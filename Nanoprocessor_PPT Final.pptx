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325" r:id="rId5"/>
    <p:sldId id="326" r:id="rId6"/>
    <p:sldId id="340" r:id="rId7"/>
    <p:sldId id="350" r:id="rId8"/>
    <p:sldId id="341" r:id="rId9"/>
    <p:sldId id="342" r:id="rId10"/>
    <p:sldId id="343" r:id="rId11"/>
    <p:sldId id="344" r:id="rId12"/>
    <p:sldId id="296" r:id="rId13"/>
    <p:sldId id="283" r:id="rId14"/>
    <p:sldId id="284" r:id="rId15"/>
    <p:sldId id="327" r:id="rId16"/>
    <p:sldId id="329" r:id="rId17"/>
    <p:sldId id="301" r:id="rId18"/>
    <p:sldId id="338" r:id="rId19"/>
    <p:sldId id="306" r:id="rId20"/>
    <p:sldId id="307" r:id="rId21"/>
    <p:sldId id="309" r:id="rId22"/>
    <p:sldId id="310" r:id="rId23"/>
    <p:sldId id="297" r:id="rId24"/>
    <p:sldId id="298" r:id="rId25"/>
    <p:sldId id="346" r:id="rId26"/>
    <p:sldId id="347" r:id="rId27"/>
    <p:sldId id="348" r:id="rId28"/>
    <p:sldId id="323" r:id="rId29"/>
    <p:sldId id="345" r:id="rId30"/>
    <p:sldId id="349" r:id="rId31"/>
    <p:sldId id="324" r:id="rId32"/>
  </p:sldIdLst>
  <p:sldSz cx="12192000" cy="6858000"/>
  <p:notesSz cx="6858000" cy="9144000"/>
  <p:embeddedFontLs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Montserrat" panose="00000500000000000000" pitchFamily="2" charset="0"/>
      <p:regular r:id="rId38"/>
      <p:bold r:id="rId39"/>
      <p:italic r:id="rId40"/>
      <p:boldItalic r:id="rId41"/>
    </p:embeddedFont>
    <p:embeddedFont>
      <p:font typeface="Trebuchet MS" panose="020B0603020202020204" pitchFamily="34" charset="0"/>
      <p:regular r:id="rId42"/>
      <p:bold r:id="rId43"/>
      <p:italic r:id="rId44"/>
      <p:boldItalic r:id="rId45"/>
    </p:embeddedFont>
    <p:embeddedFont>
      <p:font typeface="Wingdings 3" panose="05040102010807070707" pitchFamily="18" charset="2"/>
      <p:regular r:id="rId4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8" roundtripDataSignature="AMtx7mghfS9FrRZfmv33xO/r6CgEJjWJ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8210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6DB7BC-04C5-4DF7-9EBF-0593D65B585B}">
  <a:tblStyle styleId="{DC6DB7BC-04C5-4DF7-9EBF-0593D65B58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24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98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D43DABB-594C-45EC-E2B9-456B85904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>
            <a:extLst>
              <a:ext uri="{FF2B5EF4-FFF2-40B4-BE49-F238E27FC236}">
                <a16:creationId xmlns:a16="http://schemas.microsoft.com/office/drawing/2014/main" id="{21DDD609-0A96-0D25-CC78-A322AC5E25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6:notes">
            <a:extLst>
              <a:ext uri="{FF2B5EF4-FFF2-40B4-BE49-F238E27FC236}">
                <a16:creationId xmlns:a16="http://schemas.microsoft.com/office/drawing/2014/main" id="{1F796205-C9CF-363D-45EB-BBFB5375BA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07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AD66D84-88CC-98A6-44D3-435CB045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>
            <a:extLst>
              <a:ext uri="{FF2B5EF4-FFF2-40B4-BE49-F238E27FC236}">
                <a16:creationId xmlns:a16="http://schemas.microsoft.com/office/drawing/2014/main" id="{DE91C35B-86A8-6ED1-050B-207C3C91C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6:notes">
            <a:extLst>
              <a:ext uri="{FF2B5EF4-FFF2-40B4-BE49-F238E27FC236}">
                <a16:creationId xmlns:a16="http://schemas.microsoft.com/office/drawing/2014/main" id="{B8354801-5C02-3AAD-D49A-0F6B07B35B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9389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5d37a3bd29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3" name="Google Shape;333;g35d37a3bd29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d37a3bd29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54" name="Google Shape;254;g35d37a3bd29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d37a3bd29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0" name="Google Shape;260;g35d37a3bd29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>
          <a:extLst>
            <a:ext uri="{FF2B5EF4-FFF2-40B4-BE49-F238E27FC236}">
              <a16:creationId xmlns:a16="http://schemas.microsoft.com/office/drawing/2014/main" id="{FFFDA80D-F5B9-FC6A-29CD-5111B47D3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d37a3bd29_0_242:notes">
            <a:extLst>
              <a:ext uri="{FF2B5EF4-FFF2-40B4-BE49-F238E27FC236}">
                <a16:creationId xmlns:a16="http://schemas.microsoft.com/office/drawing/2014/main" id="{333CB219-CF49-7836-7274-F0A5B1E213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0" name="Google Shape;260;g35d37a3bd29_0_242:notes">
            <a:extLst>
              <a:ext uri="{FF2B5EF4-FFF2-40B4-BE49-F238E27FC236}">
                <a16:creationId xmlns:a16="http://schemas.microsoft.com/office/drawing/2014/main" id="{44082E25-9798-E87E-840C-57A5D8090B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32418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>
          <a:extLst>
            <a:ext uri="{FF2B5EF4-FFF2-40B4-BE49-F238E27FC236}">
              <a16:creationId xmlns:a16="http://schemas.microsoft.com/office/drawing/2014/main" id="{21577652-715F-514C-B986-C49F8E8E9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d37a3bd29_0_242:notes">
            <a:extLst>
              <a:ext uri="{FF2B5EF4-FFF2-40B4-BE49-F238E27FC236}">
                <a16:creationId xmlns:a16="http://schemas.microsoft.com/office/drawing/2014/main" id="{1F7F198E-529D-587B-C6FF-1FE150994E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0" name="Google Shape;260;g35d37a3bd29_0_242:notes">
            <a:extLst>
              <a:ext uri="{FF2B5EF4-FFF2-40B4-BE49-F238E27FC236}">
                <a16:creationId xmlns:a16="http://schemas.microsoft.com/office/drawing/2014/main" id="{68AEE28A-437D-928D-8EC3-3422C4295D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57929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d37a3bd29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4" name="Google Shape;364;g35d37a3bd29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5d37a3bd29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4" name="Google Shape;394;g35d37a3bd29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5d37a3bd29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0" name="Google Shape;400;g35d37a3bd29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5d37a3bd29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2" name="Google Shape;412;g35d37a3bd29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5d37a3bd29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8" name="Google Shape;418;g35d37a3bd29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5d37a3bd29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8" name="Google Shape;338;g35d37a3bd29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1211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d37a3bd29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35d37a3bd29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3922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5faeff9449_3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4" name="Google Shape;484;g35faeff9449_3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7062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5faeff9449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0" name="Google Shape;490;g35faeff9449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297709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5d37a3bd29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6" name="Google Shape;496;g35d37a3bd29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>
          <a:extLst>
            <a:ext uri="{FF2B5EF4-FFF2-40B4-BE49-F238E27FC236}">
              <a16:creationId xmlns:a16="http://schemas.microsoft.com/office/drawing/2014/main" id="{456A2B19-3FE9-4340-87E3-35D9C8AC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5d37a3bd29_0_425:notes">
            <a:extLst>
              <a:ext uri="{FF2B5EF4-FFF2-40B4-BE49-F238E27FC236}">
                <a16:creationId xmlns:a16="http://schemas.microsoft.com/office/drawing/2014/main" id="{129963D1-E579-B398-D4DD-8A13E82BC9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6" name="Google Shape;496;g35d37a3bd29_0_425:notes">
            <a:extLst>
              <a:ext uri="{FF2B5EF4-FFF2-40B4-BE49-F238E27FC236}">
                <a16:creationId xmlns:a16="http://schemas.microsoft.com/office/drawing/2014/main" id="{F679A3C9-7417-7FDA-8B44-ACB86328C2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63065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5d37a3bd29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6" name="Google Shape;496;g35d37a3bd29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5cd49941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2" name="Google Shape;502;g35cd49941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785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888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26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03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75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53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343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799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300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4337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18791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33372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28129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3030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9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364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39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19540" y="179632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8181"/>
              <a:buFont typeface="Calibri"/>
              <a:buNone/>
            </a:pPr>
            <a:r>
              <a:rPr lang="en-GB" sz="6111" b="1" dirty="0">
                <a:latin typeface="Century Gothic" panose="020B0502020202020204" pitchFamily="34" charset="0"/>
                <a:ea typeface="Courier New"/>
                <a:cs typeface="Courier New"/>
                <a:sym typeface="Courier New"/>
              </a:rPr>
              <a:t>Nano Processor Design and </a:t>
            </a:r>
            <a:r>
              <a:rPr lang="en-GB" sz="6666" b="1" dirty="0">
                <a:latin typeface="Century Gothic" panose="020B0502020202020204" pitchFamily="34" charset="0"/>
                <a:ea typeface="Courier New"/>
                <a:cs typeface="Courier New"/>
                <a:sym typeface="Courier New"/>
              </a:rPr>
              <a:t>Implementation</a:t>
            </a:r>
            <a:endParaRPr sz="6666" b="1" dirty="0">
              <a:latin typeface="Century Gothic" panose="020B0502020202020204" pitchFamily="34" charset="0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8181"/>
              <a:buFont typeface="Calibri"/>
              <a:buNone/>
            </a:pPr>
            <a:endParaRPr sz="6111" dirty="0">
              <a:latin typeface="Century Gothic" panose="020B0502020202020204" pitchFamily="34" charset="0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619540" y="3454609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3200" b="1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  <a:ea typeface="Courier New"/>
                <a:cs typeface="Arial" panose="020B0604020202020204" pitchFamily="34" charset="0"/>
                <a:sym typeface="Courier New"/>
              </a:rPr>
              <a:t>Group 20</a:t>
            </a:r>
            <a:endParaRPr sz="3200" b="1" dirty="0">
              <a:solidFill>
                <a:schemeClr val="bg1">
                  <a:lumMod val="65000"/>
                </a:schemeClr>
              </a:solidFill>
              <a:latin typeface="Century Gothic" panose="020B0502020202020204" pitchFamily="34" charset="0"/>
              <a:ea typeface="Courier New"/>
              <a:cs typeface="Arial" panose="020B0604020202020204" pitchFamily="34" charset="0"/>
              <a:sym typeface="Courier New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11FF358C-7A1A-7357-91F2-42DD1EE82E50}"/>
              </a:ext>
            </a:extLst>
          </p:cNvPr>
          <p:cNvSpPr txBox="1">
            <a:spLocks/>
          </p:cNvSpPr>
          <p:nvPr/>
        </p:nvSpPr>
        <p:spPr>
          <a:xfrm>
            <a:off x="2869817" y="4159050"/>
            <a:ext cx="4644885" cy="165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  <a:ea typeface="Courier New"/>
                <a:cs typeface="Arial" panose="020B0604020202020204" pitchFamily="34" charset="0"/>
                <a:sym typeface="Courier New"/>
              </a:rPr>
              <a:t>Senadheera S.D.A.P. 		- 	240604V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1600" b="1" dirty="0" err="1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  <a:ea typeface="Calibri" pitchFamily="34" charset="-122"/>
                <a:cs typeface="Arial" panose="020B0604020202020204" pitchFamily="34" charset="0"/>
              </a:rPr>
              <a:t>Sangadith</a:t>
            </a: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  <a:ea typeface="Calibri" pitchFamily="34" charset="-122"/>
                <a:cs typeface="Arial" panose="020B0604020202020204" pitchFamily="34" charset="0"/>
              </a:rPr>
              <a:t> K.G.D.N			-	240593H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1600" b="1" dirty="0" err="1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  <a:ea typeface="Calibri" pitchFamily="34" charset="-122"/>
                <a:cs typeface="Arial" panose="020B0604020202020204" pitchFamily="34" charset="0"/>
              </a:rPr>
              <a:t>Shanujah</a:t>
            </a: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  <a:ea typeface="Calibri" pitchFamily="34" charset="-122"/>
                <a:cs typeface="Arial" panose="020B0604020202020204" pitchFamily="34" charset="0"/>
              </a:rPr>
              <a:t> S.				-	240618R </a:t>
            </a:r>
            <a:endParaRPr lang="en-US" sz="1600" b="1" dirty="0">
              <a:solidFill>
                <a:schemeClr val="bg1">
                  <a:lumMod val="65000"/>
                </a:schemeClr>
              </a:solidFill>
              <a:latin typeface="Century Gothic" panose="020B0502020202020204" pitchFamily="34" charset="0"/>
              <a:ea typeface="Courier New"/>
              <a:cs typeface="Arial" panose="020B0604020202020204" pitchFamily="34" charset="0"/>
              <a:sym typeface="Courier New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  <a:ea typeface="Calibri" pitchFamily="34" charset="-122"/>
                <a:cs typeface="Arial" panose="020B0604020202020204" pitchFamily="34" charset="0"/>
              </a:rPr>
              <a:t>Saranyu M.				-	240295L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endParaRPr lang="en-US" sz="1600" b="1" dirty="0">
              <a:solidFill>
                <a:schemeClr val="bg1">
                  <a:lumMod val="65000"/>
                </a:schemeClr>
              </a:solidFill>
              <a:latin typeface="Century Gothic" panose="020B0502020202020204" pitchFamily="34" charset="0"/>
              <a:ea typeface="Courier New"/>
              <a:cs typeface="Arial" panose="020B0604020202020204" pitchFamily="34" charset="0"/>
              <a:sym typeface="Courier New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617520" y="233906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golian Baiti" panose="03000500000000000000" pitchFamily="66" charset="0"/>
                <a:sym typeface="Montserrat"/>
              </a:rPr>
              <a:t>Project Objective</a:t>
            </a:r>
            <a:endParaRPr sz="4500" b="1" dirty="0">
              <a:latin typeface="Century Gothic" panose="020B0502020202020204" pitchFamily="34" charset="0"/>
              <a:ea typeface="Montserrat"/>
              <a:cs typeface="Mongolian Baiti" panose="03000500000000000000" pitchFamily="66" charset="0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dirty="0">
              <a:latin typeface="Century Gothic" panose="020B0502020202020204" pitchFamily="34" charset="0"/>
              <a:cs typeface="Mongolian Baiti" panose="03000500000000000000" pitchFamily="66" charset="0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idx="1"/>
          </p:nvPr>
        </p:nvSpPr>
        <p:spPr>
          <a:xfrm>
            <a:off x="644391" y="1518163"/>
            <a:ext cx="9112889" cy="5180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endParaRPr sz="2400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Design and implement a 4-bit </a:t>
            </a:r>
            <a:r>
              <a:rPr lang="en-US" sz="2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NanoProcessor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in VHDL capable of executing an 8-instruction ISA, then verify it on the </a:t>
            </a:r>
            <a:r>
              <a:rPr lang="en-US" sz="2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Basys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3 FPGA development board.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Extend functionality with bitwise operations (AND/OR), 4-bit multiplication, and comparison.</a:t>
            </a:r>
            <a:endParaRPr sz="2400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endParaRPr sz="2400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018"/>
              <a:buNone/>
            </a:pPr>
            <a:endParaRPr sz="2400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228600" lvl="0" indent="-5080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1400" b="1" dirty="0">
              <a:solidFill>
                <a:schemeClr val="bg1">
                  <a:lumMod val="50000"/>
                </a:schemeClr>
              </a:solidFill>
              <a:highlight>
                <a:srgbClr val="292A2D"/>
              </a:highlight>
              <a:latin typeface="Century Gothic" panose="020B0502020202020204" pitchFamily="34" charset="0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>
            <a:spLocks noGrp="1"/>
          </p:cNvSpPr>
          <p:nvPr>
            <p:ph type="title"/>
          </p:nvPr>
        </p:nvSpPr>
        <p:spPr>
          <a:xfrm>
            <a:off x="617700" y="24185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Set Architecture</a:t>
            </a: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97" name="Google Shape;97;p6"/>
          <p:cNvSpPr txBox="1">
            <a:spLocks noGrp="1"/>
          </p:cNvSpPr>
          <p:nvPr>
            <p:ph idx="1"/>
          </p:nvPr>
        </p:nvSpPr>
        <p:spPr>
          <a:xfrm>
            <a:off x="617700" y="1441647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Basic design 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8" name="Google Shape;98;p6"/>
          <p:cNvGraphicFramePr/>
          <p:nvPr>
            <p:extLst>
              <p:ext uri="{D42A27DB-BD31-4B8C-83A1-F6EECF244321}">
                <p14:modId xmlns:p14="http://schemas.microsoft.com/office/powerpoint/2010/main" val="881392802"/>
              </p:ext>
            </p:extLst>
          </p:nvPr>
        </p:nvGraphicFramePr>
        <p:xfrm>
          <a:off x="767581" y="2158448"/>
          <a:ext cx="8446787" cy="3411324"/>
        </p:xfrm>
        <a:graphic>
          <a:graphicData uri="http://schemas.openxmlformats.org/drawingml/2006/table">
            <a:tbl>
              <a:tblPr>
                <a:noFill/>
                <a:tableStyleId>{DC6DB7BC-04C5-4DF7-9EBF-0593D65B585B}</a:tableStyleId>
              </a:tblPr>
              <a:tblGrid>
                <a:gridCol w="1764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2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Instruction</a:t>
                      </a:r>
                      <a:endParaRPr sz="2000" b="1" dirty="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0" marR="0" marT="0" marB="0" anchor="ctr">
                    <a:lnL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Description</a:t>
                      </a:r>
                      <a:endParaRPr sz="2000"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Instruction</a:t>
                      </a:r>
                      <a:endParaRPr sz="2000" b="1" dirty="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MOVI R, d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Load immediate d into R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b="1">
                          <a:solidFill>
                            <a:schemeClr val="accent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accen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RRR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000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dddd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ADD Ra, Rb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 = Ra + Rb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b="1">
                          <a:solidFill>
                            <a:schemeClr val="accent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accen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RaRaRa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accen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RbRbRb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0000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NEG R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 = -R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b="1">
                          <a:solidFill>
                            <a:schemeClr val="accent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accen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RRR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0000000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JZR R, d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Jump to d if R == 0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b="1" dirty="0">
                          <a:solidFill>
                            <a:schemeClr val="accent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r>
                        <a:rPr lang="en-GB" sz="20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 dirty="0">
                          <a:solidFill>
                            <a:schemeClr val="accen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RRR</a:t>
                      </a:r>
                      <a:r>
                        <a:rPr lang="en-GB" sz="20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0000</a:t>
                      </a:r>
                      <a:r>
                        <a:rPr lang="en-GB" sz="20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 dirty="0" err="1">
                          <a:solidFill>
                            <a:srgbClr val="99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ddd</a:t>
                      </a:r>
                      <a:endParaRPr sz="2000" b="1" dirty="0">
                        <a:solidFill>
                          <a:srgbClr val="9900FF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CA7649F-ADCE-D88E-4351-72483B3E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>
            <a:extLst>
              <a:ext uri="{FF2B5EF4-FFF2-40B4-BE49-F238E27FC236}">
                <a16:creationId xmlns:a16="http://schemas.microsoft.com/office/drawing/2014/main" id="{334CDF5A-BBCA-B768-9FAF-D4BE7B77A1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7700" y="24185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Set Architecture</a:t>
            </a: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97" name="Google Shape;97;p6">
            <a:extLst>
              <a:ext uri="{FF2B5EF4-FFF2-40B4-BE49-F238E27FC236}">
                <a16:creationId xmlns:a16="http://schemas.microsoft.com/office/drawing/2014/main" id="{49597861-9055-181B-8A5B-C02D09CEE0D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17700" y="1236193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Extended design 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8" name="Google Shape;98;p6">
            <a:extLst>
              <a:ext uri="{FF2B5EF4-FFF2-40B4-BE49-F238E27FC236}">
                <a16:creationId xmlns:a16="http://schemas.microsoft.com/office/drawing/2014/main" id="{3B919FB5-3694-3341-9C73-5C2F2894A2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6932633"/>
              </p:ext>
            </p:extLst>
          </p:nvPr>
        </p:nvGraphicFramePr>
        <p:xfrm>
          <a:off x="727029" y="1870762"/>
          <a:ext cx="8705204" cy="3821952"/>
        </p:xfrm>
        <a:graphic>
          <a:graphicData uri="http://schemas.openxmlformats.org/drawingml/2006/table">
            <a:tbl>
              <a:tblPr>
                <a:noFill/>
                <a:tableStyleId>{DC6DB7BC-04C5-4DF7-9EBF-0593D65B585B}</a:tableStyleId>
              </a:tblPr>
              <a:tblGrid>
                <a:gridCol w="1539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6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Instruction</a:t>
                      </a:r>
                      <a:endParaRPr sz="1600" b="1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0" marR="0" marT="0" marB="0" anchor="ctr">
                    <a:lnL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Description</a:t>
                      </a:r>
                      <a:endParaRPr sz="1600" b="1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  Instruction</a:t>
                      </a:r>
                      <a:endParaRPr sz="1600" b="1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MOVI R, d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Move immediate value d to register R 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0110 RRRR 000 dddd</a:t>
                      </a:r>
                      <a:endParaRPr sz="1600" b="1" dirty="0">
                        <a:solidFill>
                          <a:schemeClr val="accent4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ADD Ra,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Ra = Ra +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0000 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SUB Ra,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 ← Ra −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0001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0000 </a:t>
                      </a:r>
                      <a:endParaRPr lang="en-US"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NEG R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R = -R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0010  RRR    000   0000</a:t>
                      </a:r>
                      <a:endParaRPr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 Ra,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 ← Ra &amp;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0100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0010</a:t>
                      </a:r>
                      <a:endParaRPr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1406902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 Ra,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 ← Ra |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0101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0000</a:t>
                      </a:r>
                      <a:endParaRPr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49124185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 Ra,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 ← Ra ×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0011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0101 </a:t>
                      </a:r>
                      <a:endParaRPr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726145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00594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C547D7A-E7A6-75F3-8077-7652E13BB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>
            <a:extLst>
              <a:ext uri="{FF2B5EF4-FFF2-40B4-BE49-F238E27FC236}">
                <a16:creationId xmlns:a16="http://schemas.microsoft.com/office/drawing/2014/main" id="{2B8AD0B4-E703-3973-3572-04D11054E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7700" y="24185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Set Architecture</a:t>
            </a: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97" name="Google Shape;97;p6">
            <a:extLst>
              <a:ext uri="{FF2B5EF4-FFF2-40B4-BE49-F238E27FC236}">
                <a16:creationId xmlns:a16="http://schemas.microsoft.com/office/drawing/2014/main" id="{96DB9065-2F81-685F-318C-B000A3B7247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17700" y="1554243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Extended design 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8" name="Google Shape;98;p6">
            <a:extLst>
              <a:ext uri="{FF2B5EF4-FFF2-40B4-BE49-F238E27FC236}">
                <a16:creationId xmlns:a16="http://schemas.microsoft.com/office/drawing/2014/main" id="{AFBB4DCC-4596-E4A5-4488-636D588680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1728448"/>
              </p:ext>
            </p:extLst>
          </p:nvPr>
        </p:nvGraphicFramePr>
        <p:xfrm>
          <a:off x="722613" y="2248881"/>
          <a:ext cx="9144000" cy="2352966"/>
        </p:xfrm>
        <a:graphic>
          <a:graphicData uri="http://schemas.openxmlformats.org/drawingml/2006/table">
            <a:tbl>
              <a:tblPr>
                <a:noFill/>
                <a:tableStyleId>{DC6DB7BC-04C5-4DF7-9EBF-0593D65B585B}</a:tableStyleId>
              </a:tblPr>
              <a:tblGrid>
                <a:gridCol w="148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0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Instruction</a:t>
                      </a:r>
                      <a:endParaRPr sz="1600" b="1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0" marR="0" marT="0" marB="0" anchor="ctr">
                    <a:lnL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Description</a:t>
                      </a:r>
                      <a:endParaRPr sz="1600" b="1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  Instruction</a:t>
                      </a:r>
                      <a:endParaRPr sz="1600" b="1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CMP Ra, Rb 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>
                    <a:lnT w="76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Compare Ra and Rb, set flags 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0111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1001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0111</a:t>
                      </a:r>
                      <a:endParaRPr lang="en-US"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1010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0111</a:t>
                      </a:r>
                      <a:endParaRPr lang="en-US"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51061595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JZR R, d 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Jump if R == 0 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0111 RRR 0000 ddd</a:t>
                      </a:r>
                      <a:endParaRPr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526802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13115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E8D3CA-9F3D-249A-0238-DA54AF65C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508" y="606665"/>
            <a:ext cx="4982270" cy="6201640"/>
          </a:xfrm>
          <a:prstGeom prst="rect">
            <a:avLst/>
          </a:prstGeom>
        </p:spPr>
      </p:pic>
      <p:sp>
        <p:nvSpPr>
          <p:cNvPr id="6" name="Google Shape;153;g35d37a3bd29_0_114">
            <a:extLst>
              <a:ext uri="{FF2B5EF4-FFF2-40B4-BE49-F238E27FC236}">
                <a16:creationId xmlns:a16="http://schemas.microsoft.com/office/drawing/2014/main" id="{F6B4785C-D589-D095-DFF6-B7E3033820A5}"/>
              </a:ext>
            </a:extLst>
          </p:cNvPr>
          <p:cNvSpPr txBox="1">
            <a:spLocks/>
          </p:cNvSpPr>
          <p:nvPr/>
        </p:nvSpPr>
        <p:spPr>
          <a:xfrm>
            <a:off x="617520" y="-104169"/>
            <a:ext cx="9281854" cy="9632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4800" b="1" dirty="0">
                <a:latin typeface="Century Gothic" panose="020B0502020202020204" pitchFamily="34" charset="0"/>
              </a:rPr>
              <a:t>System Architecture</a:t>
            </a:r>
            <a:endParaRPr lang="en-US" sz="45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64172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3;g35d37a3bd29_0_114">
            <a:extLst>
              <a:ext uri="{FF2B5EF4-FFF2-40B4-BE49-F238E27FC236}">
                <a16:creationId xmlns:a16="http://schemas.microsoft.com/office/drawing/2014/main" id="{BD8EA0FF-C470-4F42-6DF8-F165A0310CF7}"/>
              </a:ext>
            </a:extLst>
          </p:cNvPr>
          <p:cNvSpPr txBox="1">
            <a:spLocks/>
          </p:cNvSpPr>
          <p:nvPr/>
        </p:nvSpPr>
        <p:spPr>
          <a:xfrm>
            <a:off x="617520" y="2724131"/>
            <a:ext cx="9281854" cy="9632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7200" b="1" dirty="0">
                <a:latin typeface="Century Gothic" panose="020B0502020202020204" pitchFamily="34" charset="0"/>
              </a:rPr>
              <a:t>System Components</a:t>
            </a:r>
            <a:endParaRPr lang="en-US" sz="6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19676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A508A1-46A6-66F8-479D-6ECBC2DF4496}"/>
              </a:ext>
            </a:extLst>
          </p:cNvPr>
          <p:cNvSpPr txBox="1"/>
          <p:nvPr/>
        </p:nvSpPr>
        <p:spPr>
          <a:xfrm>
            <a:off x="617520" y="1047955"/>
            <a:ext cx="832769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  <a:latin typeface="Montserrat" panose="00000500000000000000" pitchFamily="2" charset="0"/>
              </a:rPr>
              <a:t>1. Clock System</a:t>
            </a:r>
          </a:p>
          <a:p>
            <a:pPr marL="396875" indent="-1079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A </a:t>
            </a:r>
            <a:r>
              <a:rPr lang="en-US" b="1" dirty="0">
                <a:latin typeface="Montserrat" panose="00000500000000000000" pitchFamily="2" charset="0"/>
              </a:rPr>
              <a:t>Slow Clock Divider</a:t>
            </a:r>
            <a:r>
              <a:rPr lang="en-US" dirty="0">
                <a:latin typeface="Montserrat" panose="00000500000000000000" pitchFamily="2" charset="0"/>
              </a:rPr>
              <a:t> reduces the 100 MHz board clock to ~1 Hz. </a:t>
            </a:r>
          </a:p>
          <a:p>
            <a:pPr marL="396875" indent="-1079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Enables step-by-step execution for debugging and visualization.</a:t>
            </a:r>
          </a:p>
          <a:p>
            <a:pPr marL="288925"/>
            <a:endParaRPr lang="en-US" dirty="0">
              <a:latin typeface="Montserrat" panose="00000500000000000000" pitchFamily="2" charset="0"/>
            </a:endParaRPr>
          </a:p>
          <a:p>
            <a:r>
              <a:rPr lang="en-US" b="1" dirty="0">
                <a:solidFill>
                  <a:srgbClr val="92D050"/>
                </a:solidFill>
                <a:latin typeface="Montserrat" panose="00000500000000000000" pitchFamily="2" charset="0"/>
              </a:rPr>
              <a:t>2. Program Flow Unit (Fetch Stage)</a:t>
            </a:r>
          </a:p>
          <a:p>
            <a:pPr marL="396875" indent="-107950">
              <a:buFont typeface="Arial" panose="020B0604020202020204" pitchFamily="34" charset="0"/>
              <a:buChar char="•"/>
            </a:pPr>
            <a:r>
              <a:rPr lang="en-US" b="1" dirty="0">
                <a:latin typeface="Montserrat" panose="00000500000000000000" pitchFamily="2" charset="0"/>
              </a:rPr>
              <a:t>Program Counter (PC)</a:t>
            </a:r>
            <a:r>
              <a:rPr lang="en-US" dirty="0">
                <a:latin typeface="Montserrat" panose="00000500000000000000" pitchFamily="2" charset="0"/>
              </a:rPr>
              <a:t> holds the current instruction address. </a:t>
            </a:r>
          </a:p>
          <a:p>
            <a:pPr marL="396875" indent="-107950">
              <a:buFont typeface="Arial" panose="020B0604020202020204" pitchFamily="34" charset="0"/>
              <a:buChar char="•"/>
            </a:pPr>
            <a:r>
              <a:rPr lang="en-US" b="1" dirty="0">
                <a:latin typeface="Montserrat" panose="00000500000000000000" pitchFamily="2" charset="0"/>
              </a:rPr>
              <a:t>PC Adder</a:t>
            </a:r>
            <a:r>
              <a:rPr lang="en-US" dirty="0">
                <a:latin typeface="Montserrat" panose="00000500000000000000" pitchFamily="2" charset="0"/>
              </a:rPr>
              <a:t> increments PC (PC + 1). </a:t>
            </a:r>
          </a:p>
          <a:p>
            <a:pPr marL="396875" indent="-107950">
              <a:buFont typeface="Arial" panose="020B0604020202020204" pitchFamily="34" charset="0"/>
              <a:buChar char="•"/>
            </a:pPr>
            <a:r>
              <a:rPr lang="en-US" b="1" dirty="0">
                <a:latin typeface="Montserrat" panose="00000500000000000000" pitchFamily="2" charset="0"/>
              </a:rPr>
              <a:t>Address Selector (MUX)</a:t>
            </a:r>
            <a:r>
              <a:rPr lang="en-US" dirty="0">
                <a:latin typeface="Montserrat" panose="00000500000000000000" pitchFamily="2" charset="0"/>
              </a:rPr>
              <a:t> chooses: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Sequential execution (PC + 1), 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Jump address (for control flow instructions) </a:t>
            </a:r>
          </a:p>
          <a:p>
            <a:pPr marL="396875" indent="-107950">
              <a:buFont typeface="Arial" panose="020B0604020202020204" pitchFamily="34" charset="0"/>
              <a:buChar char="•"/>
            </a:pPr>
            <a:r>
              <a:rPr lang="en-US" b="1" dirty="0">
                <a:latin typeface="Montserrat" panose="00000500000000000000" pitchFamily="2" charset="0"/>
              </a:rPr>
              <a:t>Program ROM</a:t>
            </a:r>
            <a:r>
              <a:rPr lang="en-US" dirty="0">
                <a:latin typeface="Montserrat" panose="00000500000000000000" pitchFamily="2" charset="0"/>
              </a:rPr>
              <a:t> stores and outputs the 12-bit instruction.</a:t>
            </a:r>
          </a:p>
          <a:p>
            <a:pPr marL="396875" indent="-107950"/>
            <a:endParaRPr lang="en-US" dirty="0">
              <a:solidFill>
                <a:srgbClr val="92D050"/>
              </a:solidFill>
              <a:latin typeface="Montserrat" panose="00000500000000000000" pitchFamily="2" charset="0"/>
            </a:endParaRPr>
          </a:p>
          <a:p>
            <a:r>
              <a:rPr lang="en-US" b="1" dirty="0">
                <a:solidFill>
                  <a:srgbClr val="92D050"/>
                </a:solidFill>
                <a:latin typeface="Montserrat" panose="00000500000000000000" pitchFamily="2" charset="0"/>
              </a:rPr>
              <a:t>3. Instruction Decode Unit</a:t>
            </a:r>
          </a:p>
          <a:p>
            <a:pPr marL="396875" indent="-107950">
              <a:buFont typeface="Arial" panose="020B0604020202020204" pitchFamily="34" charset="0"/>
              <a:buChar char="•"/>
            </a:pPr>
            <a:r>
              <a:rPr lang="en-US" b="1" dirty="0">
                <a:latin typeface="Montserrat" panose="00000500000000000000" pitchFamily="2" charset="0"/>
              </a:rPr>
              <a:t>Instruction Decoder</a:t>
            </a:r>
            <a:r>
              <a:rPr lang="en-US" dirty="0">
                <a:latin typeface="Montserrat" panose="00000500000000000000" pitchFamily="2" charset="0"/>
              </a:rPr>
              <a:t> splits the instruction into: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Register addresses (Rs, Rt, Rd)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Immediate value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ALU operation control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Jump control signals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Load selection (ALU vs Immediate)</a:t>
            </a:r>
          </a:p>
          <a:p>
            <a:pPr marL="60325" indent="-60325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Google Shape;153;g35d37a3bd29_0_114">
            <a:extLst>
              <a:ext uri="{FF2B5EF4-FFF2-40B4-BE49-F238E27FC236}">
                <a16:creationId xmlns:a16="http://schemas.microsoft.com/office/drawing/2014/main" id="{1488812C-43A2-D35E-F29E-EA9AA4E47134}"/>
              </a:ext>
            </a:extLst>
          </p:cNvPr>
          <p:cNvSpPr txBox="1">
            <a:spLocks/>
          </p:cNvSpPr>
          <p:nvPr/>
        </p:nvSpPr>
        <p:spPr>
          <a:xfrm>
            <a:off x="617520" y="-24657"/>
            <a:ext cx="9281854" cy="9632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4800" b="1" dirty="0">
                <a:latin typeface="Century Gothic" panose="020B0502020202020204" pitchFamily="34" charset="0"/>
              </a:rPr>
              <a:t>System Components</a:t>
            </a:r>
            <a:endParaRPr lang="en-US" sz="45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79587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50253-26D2-4224-DF6B-4647830B1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19203-D8DB-38D6-AE2B-156F110E3328}"/>
              </a:ext>
            </a:extLst>
          </p:cNvPr>
          <p:cNvSpPr txBox="1"/>
          <p:nvPr/>
        </p:nvSpPr>
        <p:spPr>
          <a:xfrm>
            <a:off x="617520" y="818118"/>
            <a:ext cx="749262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  <a:latin typeface="Montserrat" panose="00000500000000000000" pitchFamily="2" charset="0"/>
              </a:rPr>
              <a:t>4. Register Bank (Storage Unit)</a:t>
            </a:r>
          </a:p>
          <a:p>
            <a:pPr marL="457200" indent="-1682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Contains </a:t>
            </a:r>
            <a:r>
              <a:rPr lang="en-US" b="1" dirty="0">
                <a:latin typeface="Montserrat" panose="00000500000000000000" pitchFamily="2" charset="0"/>
              </a:rPr>
              <a:t>8 × 4-bit registers (R0–R7)</a:t>
            </a:r>
            <a:r>
              <a:rPr lang="en-US" dirty="0">
                <a:latin typeface="Montserrat" panose="00000500000000000000" pitchFamily="2" charset="0"/>
              </a:rPr>
              <a:t> </a:t>
            </a:r>
          </a:p>
          <a:p>
            <a:pPr marL="457200" indent="-1682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R0 is hardwired to 0 </a:t>
            </a:r>
          </a:p>
          <a:p>
            <a:pPr marL="457200" indent="-1682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Supports: </a:t>
            </a:r>
          </a:p>
          <a:p>
            <a:pPr marL="742950" lvl="1" indent="-1174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Read of two operands (A &amp; B) </a:t>
            </a:r>
          </a:p>
          <a:p>
            <a:pPr marL="742950" lvl="1" indent="-1174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Write-back of results </a:t>
            </a:r>
            <a:br>
              <a:rPr lang="en-US" dirty="0">
                <a:latin typeface="Montserrat" panose="00000500000000000000" pitchFamily="2" charset="0"/>
              </a:rPr>
            </a:br>
            <a:endParaRPr lang="en-US" dirty="0">
              <a:latin typeface="Montserrat" panose="00000500000000000000" pitchFamily="2" charset="0"/>
            </a:endParaRPr>
          </a:p>
          <a:p>
            <a:r>
              <a:rPr lang="en-US" b="1" dirty="0">
                <a:solidFill>
                  <a:srgbClr val="92D050"/>
                </a:solidFill>
                <a:latin typeface="Montserrat" panose="00000500000000000000" pitchFamily="2" charset="0"/>
              </a:rPr>
              <a:t>5. Operand Selection (Data Routing)</a:t>
            </a:r>
          </a:p>
          <a:p>
            <a:pPr marL="457200" indent="-1682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Two </a:t>
            </a:r>
            <a:r>
              <a:rPr lang="en-US" b="1" dirty="0">
                <a:latin typeface="Montserrat" panose="00000500000000000000" pitchFamily="2" charset="0"/>
              </a:rPr>
              <a:t>8-to-1 Multiplexers</a:t>
            </a:r>
            <a:r>
              <a:rPr lang="en-US" dirty="0">
                <a:latin typeface="Montserrat" panose="00000500000000000000" pitchFamily="2" charset="0"/>
              </a:rPr>
              <a:t> </a:t>
            </a:r>
          </a:p>
          <a:p>
            <a:pPr marL="742950" lvl="1" indent="-1174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Select Register A (source operand 1) </a:t>
            </a:r>
          </a:p>
          <a:p>
            <a:pPr marL="742950" lvl="1" indent="-1174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Select Register B (source operand 2) </a:t>
            </a:r>
            <a:br>
              <a:rPr lang="en-US" dirty="0">
                <a:latin typeface="Montserrat" panose="00000500000000000000" pitchFamily="2" charset="0"/>
              </a:rPr>
            </a:br>
            <a:endParaRPr lang="en-US" dirty="0">
              <a:latin typeface="Montserrat" panose="00000500000000000000" pitchFamily="2" charset="0"/>
            </a:endParaRPr>
          </a:p>
          <a:p>
            <a:r>
              <a:rPr lang="en-US" b="1" dirty="0">
                <a:solidFill>
                  <a:srgbClr val="92D050"/>
                </a:solidFill>
                <a:latin typeface="Montserrat" panose="00000500000000000000" pitchFamily="2" charset="0"/>
              </a:rPr>
              <a:t>6. Execution Unit (ALU)</a:t>
            </a:r>
          </a:p>
          <a:p>
            <a:pPr marL="457200" indent="-1682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4-bit </a:t>
            </a:r>
            <a:r>
              <a:rPr lang="en-US" b="1" dirty="0">
                <a:latin typeface="Montserrat" panose="00000500000000000000" pitchFamily="2" charset="0"/>
              </a:rPr>
              <a:t>Add/Subtract Unit</a:t>
            </a:r>
            <a:r>
              <a:rPr lang="en-US" dirty="0">
                <a:latin typeface="Montserrat" panose="00000500000000000000" pitchFamily="2" charset="0"/>
              </a:rPr>
              <a:t> </a:t>
            </a:r>
          </a:p>
          <a:p>
            <a:pPr marL="457200" indent="-1682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Performs: </a:t>
            </a:r>
          </a:p>
          <a:p>
            <a:pPr marL="742950" lvl="1" indent="-1174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Addition (CTRL = 0) </a:t>
            </a:r>
          </a:p>
          <a:p>
            <a:pPr marL="742950" lvl="1" indent="-1174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Subtraction (CTRL = 1) </a:t>
            </a:r>
          </a:p>
          <a:p>
            <a:pPr marL="457200" indent="-1682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Outputs: </a:t>
            </a:r>
          </a:p>
          <a:p>
            <a:pPr marL="742950" lvl="1" indent="-1174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Result </a:t>
            </a:r>
          </a:p>
          <a:p>
            <a:pPr marL="742950" lvl="1" indent="-1174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Zero flag </a:t>
            </a:r>
          </a:p>
          <a:p>
            <a:pPr marL="742950" lvl="1" indent="-117475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Overflow flag</a:t>
            </a:r>
          </a:p>
        </p:txBody>
      </p:sp>
      <p:sp>
        <p:nvSpPr>
          <p:cNvPr id="2" name="Google Shape;153;g35d37a3bd29_0_114">
            <a:extLst>
              <a:ext uri="{FF2B5EF4-FFF2-40B4-BE49-F238E27FC236}">
                <a16:creationId xmlns:a16="http://schemas.microsoft.com/office/drawing/2014/main" id="{F8C2AFC2-20E3-8F45-80F6-4327DF078864}"/>
              </a:ext>
            </a:extLst>
          </p:cNvPr>
          <p:cNvSpPr txBox="1">
            <a:spLocks/>
          </p:cNvSpPr>
          <p:nvPr/>
        </p:nvSpPr>
        <p:spPr>
          <a:xfrm>
            <a:off x="617520" y="-24657"/>
            <a:ext cx="9281854" cy="9632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4800" b="1" dirty="0">
                <a:latin typeface="Century Gothic" panose="020B0502020202020204" pitchFamily="34" charset="0"/>
              </a:rPr>
              <a:t>System Components</a:t>
            </a:r>
            <a:endParaRPr lang="en-US" sz="45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85238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24007-3F77-51CB-104D-048B50FE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61926B-5454-0C7C-EC3A-CD34A59AD547}"/>
              </a:ext>
            </a:extLst>
          </p:cNvPr>
          <p:cNvSpPr txBox="1"/>
          <p:nvPr/>
        </p:nvSpPr>
        <p:spPr>
          <a:xfrm>
            <a:off x="617520" y="857874"/>
            <a:ext cx="74926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  <a:latin typeface="Montserrat" panose="00000500000000000000" pitchFamily="2" charset="0"/>
              </a:rPr>
              <a:t>7. Write Back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Montserrat" panose="00000500000000000000" pitchFamily="2" charset="0"/>
              </a:rPr>
              <a:t>Load Selector MUX</a:t>
            </a:r>
            <a:r>
              <a:rPr lang="en-US" dirty="0">
                <a:latin typeface="Montserrat" panose="00000500000000000000" pitchFamily="2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Chooses between: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Immediate value (MOVI)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ALU result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Writes final data back to selected register </a:t>
            </a:r>
          </a:p>
          <a:p>
            <a:br>
              <a:rPr lang="en-US" dirty="0">
                <a:latin typeface="Montserrat" panose="00000500000000000000" pitchFamily="2" charset="0"/>
              </a:rPr>
            </a:br>
            <a:r>
              <a:rPr lang="en-US" b="1" dirty="0">
                <a:solidFill>
                  <a:srgbClr val="92D050"/>
                </a:solidFill>
                <a:latin typeface="Montserrat" panose="00000500000000000000" pitchFamily="2" charset="0"/>
              </a:rPr>
              <a:t>8. Control Flow (Jump System)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Supports conditional/unconditional jumps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Uses register value + jump enable signal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Updates PC via Address Selector </a:t>
            </a:r>
            <a:br>
              <a:rPr lang="en-US" dirty="0">
                <a:latin typeface="Montserrat" panose="00000500000000000000" pitchFamily="2" charset="0"/>
              </a:rPr>
            </a:br>
            <a:endParaRPr lang="en-US" dirty="0">
              <a:solidFill>
                <a:srgbClr val="92D050"/>
              </a:solidFill>
              <a:latin typeface="Montserrat" panose="00000500000000000000" pitchFamily="2" charset="0"/>
            </a:endParaRPr>
          </a:p>
          <a:p>
            <a:r>
              <a:rPr lang="en-US" b="1" dirty="0">
                <a:solidFill>
                  <a:srgbClr val="92D050"/>
                </a:solidFill>
                <a:latin typeface="Montserrat" panose="00000500000000000000" pitchFamily="2" charset="0"/>
              </a:rPr>
              <a:t>9. Output Display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Montserrat" panose="00000500000000000000" pitchFamily="2" charset="0"/>
              </a:rPr>
              <a:t>LED Output</a:t>
            </a:r>
            <a:r>
              <a:rPr lang="en-US" dirty="0">
                <a:latin typeface="Montserrat" panose="00000500000000000000" pitchFamily="2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R7 value displayed on LEDs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Flags: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LED14 → Zero flag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LED15 → Overflow flag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Montserrat" panose="00000500000000000000" pitchFamily="2" charset="0"/>
              </a:rPr>
              <a:t>7-Segment Display</a:t>
            </a:r>
            <a:r>
              <a:rPr lang="en-US" dirty="0">
                <a:latin typeface="Montserrat" panose="00000500000000000000" pitchFamily="2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Shows R7 value in hexadecimal</a:t>
            </a:r>
          </a:p>
        </p:txBody>
      </p:sp>
      <p:sp>
        <p:nvSpPr>
          <p:cNvPr id="2" name="Google Shape;153;g35d37a3bd29_0_114">
            <a:extLst>
              <a:ext uri="{FF2B5EF4-FFF2-40B4-BE49-F238E27FC236}">
                <a16:creationId xmlns:a16="http://schemas.microsoft.com/office/drawing/2014/main" id="{C2D058A8-780B-BB15-92C8-E180E8F1391E}"/>
              </a:ext>
            </a:extLst>
          </p:cNvPr>
          <p:cNvSpPr txBox="1">
            <a:spLocks/>
          </p:cNvSpPr>
          <p:nvPr/>
        </p:nvSpPr>
        <p:spPr>
          <a:xfrm>
            <a:off x="617520" y="-24657"/>
            <a:ext cx="9281854" cy="9632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4800" b="1" dirty="0">
                <a:latin typeface="Century Gothic" panose="020B0502020202020204" pitchFamily="34" charset="0"/>
              </a:rPr>
              <a:t>System Components</a:t>
            </a:r>
            <a:endParaRPr lang="en-US" sz="45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44308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AC6C4-FE94-2A4C-D1DD-89C8AB2DF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5D65A-0C55-FEC1-CEA3-2AF78DCC826C}"/>
              </a:ext>
            </a:extLst>
          </p:cNvPr>
          <p:cNvSpPr txBox="1"/>
          <p:nvPr/>
        </p:nvSpPr>
        <p:spPr>
          <a:xfrm>
            <a:off x="617520" y="1265377"/>
            <a:ext cx="7492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Montserrat" panose="00000500000000000000" pitchFamily="2" charset="0"/>
              </a:rPr>
              <a:t>Overall flow:</a:t>
            </a:r>
          </a:p>
          <a:p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C1E994-8037-66A7-354E-B55AD456CE06}"/>
              </a:ext>
            </a:extLst>
          </p:cNvPr>
          <p:cNvSpPr/>
          <p:nvPr/>
        </p:nvSpPr>
        <p:spPr>
          <a:xfrm>
            <a:off x="617520" y="2194758"/>
            <a:ext cx="2584171" cy="743658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A41048-CFFE-600E-1B37-D44B3244598C}"/>
              </a:ext>
            </a:extLst>
          </p:cNvPr>
          <p:cNvSpPr/>
          <p:nvPr/>
        </p:nvSpPr>
        <p:spPr>
          <a:xfrm>
            <a:off x="591568" y="2339069"/>
            <a:ext cx="262283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</a:rPr>
              <a:t>Program Counter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3694B45-07A5-7EA3-5CD8-DD53DE02D90A}"/>
              </a:ext>
            </a:extLst>
          </p:cNvPr>
          <p:cNvCxnSpPr>
            <a:stCxn id="2" idx="3"/>
          </p:cNvCxnSpPr>
          <p:nvPr/>
        </p:nvCxnSpPr>
        <p:spPr>
          <a:xfrm flipV="1">
            <a:off x="3201691" y="2564290"/>
            <a:ext cx="624874" cy="22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642D4A-4D1C-4CBF-06EC-0868A07E8916}"/>
              </a:ext>
            </a:extLst>
          </p:cNvPr>
          <p:cNvSpPr/>
          <p:nvPr/>
        </p:nvSpPr>
        <p:spPr>
          <a:xfrm>
            <a:off x="3826565" y="2189103"/>
            <a:ext cx="2584171" cy="743658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2EEF51-2ACD-E5BE-2D2F-E64ADEDD6516}"/>
              </a:ext>
            </a:extLst>
          </p:cNvPr>
          <p:cNvSpPr/>
          <p:nvPr/>
        </p:nvSpPr>
        <p:spPr>
          <a:xfrm>
            <a:off x="3900798" y="2303597"/>
            <a:ext cx="242245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tx1"/>
                </a:solidFill>
              </a:rPr>
              <a:t>Program ROM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56AC07E-51C9-FC2D-E27E-610870C7EB29}"/>
              </a:ext>
            </a:extLst>
          </p:cNvPr>
          <p:cNvCxnSpPr>
            <a:stCxn id="22" idx="3"/>
          </p:cNvCxnSpPr>
          <p:nvPr/>
        </p:nvCxnSpPr>
        <p:spPr>
          <a:xfrm flipV="1">
            <a:off x="6410736" y="2558635"/>
            <a:ext cx="624874" cy="22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3C151AC-7163-DFA2-5EA8-5DF9FBF46669}"/>
              </a:ext>
            </a:extLst>
          </p:cNvPr>
          <p:cNvSpPr/>
          <p:nvPr/>
        </p:nvSpPr>
        <p:spPr>
          <a:xfrm>
            <a:off x="7035610" y="2186275"/>
            <a:ext cx="2584171" cy="743658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9FD8CC-6B0B-115D-BF02-3D86D99EA6D5}"/>
              </a:ext>
            </a:extLst>
          </p:cNvPr>
          <p:cNvSpPr/>
          <p:nvPr/>
        </p:nvSpPr>
        <p:spPr>
          <a:xfrm>
            <a:off x="7317433" y="2141745"/>
            <a:ext cx="20072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tx1"/>
                </a:solidFill>
              </a:rPr>
              <a:t>Instruction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41CECD2-9ACC-8D45-4714-470FA649A19D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8327696" y="2929933"/>
            <a:ext cx="0" cy="5133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4CD2225-F637-7FEF-4FE8-32F256B5C51E}"/>
              </a:ext>
            </a:extLst>
          </p:cNvPr>
          <p:cNvSpPr/>
          <p:nvPr/>
        </p:nvSpPr>
        <p:spPr>
          <a:xfrm>
            <a:off x="3829880" y="3464624"/>
            <a:ext cx="2584171" cy="743658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D57BD3-320B-69F1-F7E3-0EDC23630F97}"/>
              </a:ext>
            </a:extLst>
          </p:cNvPr>
          <p:cNvSpPr/>
          <p:nvPr/>
        </p:nvSpPr>
        <p:spPr>
          <a:xfrm>
            <a:off x="4687982" y="3579118"/>
            <a:ext cx="85472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tx1"/>
                </a:solidFill>
              </a:rPr>
              <a:t>ALU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D52E00F-0D95-0610-E1C2-07AA36506C81}"/>
              </a:ext>
            </a:extLst>
          </p:cNvPr>
          <p:cNvCxnSpPr>
            <a:cxnSpLocks/>
          </p:cNvCxnSpPr>
          <p:nvPr/>
        </p:nvCxnSpPr>
        <p:spPr>
          <a:xfrm flipH="1">
            <a:off x="6414051" y="3776288"/>
            <a:ext cx="611628" cy="5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431937C-852A-2DE6-25A2-D57F820FD477}"/>
              </a:ext>
            </a:extLst>
          </p:cNvPr>
          <p:cNvSpPr/>
          <p:nvPr/>
        </p:nvSpPr>
        <p:spPr>
          <a:xfrm>
            <a:off x="7038925" y="3461796"/>
            <a:ext cx="2584171" cy="743658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CD20D4F-C79B-1D18-F642-27B729E87256}"/>
              </a:ext>
            </a:extLst>
          </p:cNvPr>
          <p:cNvSpPr/>
          <p:nvPr/>
        </p:nvSpPr>
        <p:spPr>
          <a:xfrm>
            <a:off x="7469827" y="3576290"/>
            <a:ext cx="170912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tx1"/>
                </a:solidFill>
              </a:rPr>
              <a:t>Registers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4886F33-8A44-4A92-6E10-5C4E3CBF8F6D}"/>
              </a:ext>
            </a:extLst>
          </p:cNvPr>
          <p:cNvSpPr/>
          <p:nvPr/>
        </p:nvSpPr>
        <p:spPr>
          <a:xfrm>
            <a:off x="7534750" y="2453169"/>
            <a:ext cx="157927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tx1"/>
                </a:solidFill>
              </a:rPr>
              <a:t>Decoder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40FD29F-F24B-805B-1546-75BE6CC6FD55}"/>
              </a:ext>
            </a:extLst>
          </p:cNvPr>
          <p:cNvCxnSpPr/>
          <p:nvPr/>
        </p:nvCxnSpPr>
        <p:spPr>
          <a:xfrm flipV="1">
            <a:off x="6417358" y="3933169"/>
            <a:ext cx="624874" cy="22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DCEA1D-A9CD-5E3C-0872-E0E7FEB01134}"/>
              </a:ext>
            </a:extLst>
          </p:cNvPr>
          <p:cNvCxnSpPr>
            <a:cxnSpLocks/>
          </p:cNvCxnSpPr>
          <p:nvPr/>
        </p:nvCxnSpPr>
        <p:spPr>
          <a:xfrm>
            <a:off x="8321072" y="4205451"/>
            <a:ext cx="0" cy="5133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10295F1-19D1-9341-88E8-CE65F05C8A2D}"/>
              </a:ext>
            </a:extLst>
          </p:cNvPr>
          <p:cNvSpPr/>
          <p:nvPr/>
        </p:nvSpPr>
        <p:spPr>
          <a:xfrm>
            <a:off x="7032301" y="4737314"/>
            <a:ext cx="2584171" cy="743658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2214C5-A595-4B7E-21B4-914264A67E98}"/>
              </a:ext>
            </a:extLst>
          </p:cNvPr>
          <p:cNvSpPr/>
          <p:nvPr/>
        </p:nvSpPr>
        <p:spPr>
          <a:xfrm>
            <a:off x="7132185" y="4851808"/>
            <a:ext cx="237116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tx1"/>
                </a:solidFill>
              </a:rPr>
              <a:t>7-Seg display</a:t>
            </a:r>
          </a:p>
        </p:txBody>
      </p:sp>
      <p:sp>
        <p:nvSpPr>
          <p:cNvPr id="3" name="Google Shape;153;g35d37a3bd29_0_114">
            <a:extLst>
              <a:ext uri="{FF2B5EF4-FFF2-40B4-BE49-F238E27FC236}">
                <a16:creationId xmlns:a16="http://schemas.microsoft.com/office/drawing/2014/main" id="{54B3B6BD-460E-71DB-6143-196ED3F1E391}"/>
              </a:ext>
            </a:extLst>
          </p:cNvPr>
          <p:cNvSpPr txBox="1">
            <a:spLocks/>
          </p:cNvSpPr>
          <p:nvPr/>
        </p:nvSpPr>
        <p:spPr>
          <a:xfrm>
            <a:off x="617520" y="15099"/>
            <a:ext cx="9281854" cy="9632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4800" b="1" dirty="0">
                <a:latin typeface="Century Gothic" panose="020B0502020202020204" pitchFamily="34" charset="0"/>
              </a:rPr>
              <a:t>System Components</a:t>
            </a:r>
            <a:endParaRPr lang="en-US" sz="45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87752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5d37a3bd29_0_261"/>
          <p:cNvSpPr txBox="1">
            <a:spLocks noGrp="1"/>
          </p:cNvSpPr>
          <p:nvPr>
            <p:ph type="title"/>
          </p:nvPr>
        </p:nvSpPr>
        <p:spPr>
          <a:xfrm>
            <a:off x="585959" y="2416372"/>
            <a:ext cx="9074876" cy="190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 sz="7200" b="1" dirty="0">
                <a:latin typeface="Montserrat"/>
                <a:ea typeface="Montserrat"/>
                <a:cs typeface="Montserrat"/>
                <a:sym typeface="Montserrat"/>
              </a:rPr>
              <a:t>Additional Features</a:t>
            </a:r>
            <a:endParaRPr sz="9600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d37a3bd29_0_236"/>
          <p:cNvSpPr txBox="1">
            <a:spLocks noGrp="1"/>
          </p:cNvSpPr>
          <p:nvPr>
            <p:ph idx="1"/>
          </p:nvPr>
        </p:nvSpPr>
        <p:spPr>
          <a:xfrm>
            <a:off x="252474" y="1029830"/>
            <a:ext cx="9963242" cy="535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b="1" dirty="0">
                <a:latin typeface="Montserrat"/>
                <a:ea typeface="Montserrat"/>
                <a:cs typeface="Montserrat"/>
                <a:sym typeface="Montserrat"/>
              </a:rPr>
              <a:t>Opcode Extraction:</a:t>
            </a:r>
          </a:p>
          <a:p>
            <a:pPr marL="625475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Bits 13–10 are extracted as the 4-bit main opcode to determine the instruction type (ADD, SUB, NEG, MUL, AND, OR, MOVI, JZR, EQ, GT, LT).</a:t>
            </a:r>
          </a:p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b="1" dirty="0">
                <a:latin typeface="Montserrat"/>
                <a:ea typeface="Montserrat"/>
                <a:cs typeface="Montserrat"/>
                <a:sym typeface="Montserrat"/>
              </a:rPr>
              <a:t>ALU Operation Selection:</a:t>
            </a:r>
          </a:p>
          <a:p>
            <a:pPr marL="625475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The extracted 4-bit opcode is passed directly to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ALU_Op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 to control the ALU operation (ADD, SUB, NEG, MUL, AND, OR, comparison operations, etc.).</a:t>
            </a:r>
          </a:p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b="1" dirty="0">
                <a:latin typeface="Montserrat"/>
                <a:ea typeface="Montserrat"/>
                <a:cs typeface="Montserrat"/>
                <a:sym typeface="Montserrat"/>
              </a:rPr>
              <a:t>Register Control Signals:</a:t>
            </a:r>
          </a:p>
          <a:p>
            <a:pPr marL="625475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Generates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Register_Enable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Register_Select_A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, and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Register_Select_B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 for selecting source and destination registers during ALU execution.</a:t>
            </a:r>
          </a:p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b="1" dirty="0">
                <a:latin typeface="Montserrat"/>
                <a:ea typeface="Montserrat"/>
                <a:cs typeface="Montserrat"/>
                <a:sym typeface="Montserrat"/>
              </a:rPr>
              <a:t>Immediate Value Handling:</a:t>
            </a:r>
          </a:p>
          <a:p>
            <a:pPr marL="625475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Bits 3–0 are extracted as a 4-bit immediate constant for the MOVI instruction when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Load_Select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 = '0’.</a:t>
            </a:r>
          </a:p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b="1" dirty="0">
                <a:latin typeface="Montserrat"/>
                <a:ea typeface="Montserrat"/>
                <a:cs typeface="Montserrat"/>
                <a:sym typeface="Montserrat"/>
              </a:rPr>
              <a:t>Jump Logic (JZR):</a:t>
            </a:r>
          </a:p>
          <a:p>
            <a:pPr marL="625475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Checks whether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Register_Value_For_Jump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 = "0000".If true,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Jump_Enable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 is activated and the jump target address is loaded from bits 2–0.</a:t>
            </a:r>
            <a:endParaRPr sz="232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4;g35d37a3bd29_0_224">
            <a:extLst>
              <a:ext uri="{FF2B5EF4-FFF2-40B4-BE49-F238E27FC236}">
                <a16:creationId xmlns:a16="http://schemas.microsoft.com/office/drawing/2014/main" id="{9F8866EB-809E-5432-DAF8-8216311638C2}"/>
              </a:ext>
            </a:extLst>
          </p:cNvPr>
          <p:cNvSpPr txBox="1">
            <a:spLocks/>
          </p:cNvSpPr>
          <p:nvPr/>
        </p:nvSpPr>
        <p:spPr>
          <a:xfrm>
            <a:off x="626100" y="239087"/>
            <a:ext cx="10939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Decoder (Extended)</a:t>
            </a:r>
            <a:endParaRPr lang="en-GB"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endParaRPr lang="en-GB"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4;g35d37a3bd29_0_224">
            <a:extLst>
              <a:ext uri="{FF2B5EF4-FFF2-40B4-BE49-F238E27FC236}">
                <a16:creationId xmlns:a16="http://schemas.microsoft.com/office/drawing/2014/main" id="{6A5E3A5D-B8DE-8603-2B90-17DEEF575D0E}"/>
              </a:ext>
            </a:extLst>
          </p:cNvPr>
          <p:cNvSpPr txBox="1">
            <a:spLocks/>
          </p:cNvSpPr>
          <p:nvPr/>
        </p:nvSpPr>
        <p:spPr>
          <a:xfrm>
            <a:off x="626100" y="239087"/>
            <a:ext cx="10939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Decoder (Extended)</a:t>
            </a:r>
            <a:endParaRPr lang="en-GB"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endParaRPr lang="en-GB"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FB629B-DFE2-B474-B155-42A40EF65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90" y="1005010"/>
            <a:ext cx="7277969" cy="570534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>
          <a:extLst>
            <a:ext uri="{FF2B5EF4-FFF2-40B4-BE49-F238E27FC236}">
              <a16:creationId xmlns:a16="http://schemas.microsoft.com/office/drawing/2014/main" id="{6BE5B15B-A43E-D8BA-933A-995A59EA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4;g35d37a3bd29_0_224">
            <a:extLst>
              <a:ext uri="{FF2B5EF4-FFF2-40B4-BE49-F238E27FC236}">
                <a16:creationId xmlns:a16="http://schemas.microsoft.com/office/drawing/2014/main" id="{C8D102F6-C6F4-8D8D-2018-55E5EFCA0071}"/>
              </a:ext>
            </a:extLst>
          </p:cNvPr>
          <p:cNvSpPr txBox="1">
            <a:spLocks/>
          </p:cNvSpPr>
          <p:nvPr/>
        </p:nvSpPr>
        <p:spPr>
          <a:xfrm>
            <a:off x="626100" y="239087"/>
            <a:ext cx="10939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Decoder (Extended)</a:t>
            </a:r>
            <a:endParaRPr lang="en-GB"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endParaRPr lang="en-GB"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326775-E069-B419-FE08-9FB476D13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831" y="1008617"/>
            <a:ext cx="5968223" cy="561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5974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>
          <a:extLst>
            <a:ext uri="{FF2B5EF4-FFF2-40B4-BE49-F238E27FC236}">
              <a16:creationId xmlns:a16="http://schemas.microsoft.com/office/drawing/2014/main" id="{84E5E2A9-F71C-F1AD-C2AA-ABE2591CE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4;g35d37a3bd29_0_224">
            <a:extLst>
              <a:ext uri="{FF2B5EF4-FFF2-40B4-BE49-F238E27FC236}">
                <a16:creationId xmlns:a16="http://schemas.microsoft.com/office/drawing/2014/main" id="{A3107720-2644-28C2-E9A8-AA7FC9191479}"/>
              </a:ext>
            </a:extLst>
          </p:cNvPr>
          <p:cNvSpPr txBox="1">
            <a:spLocks/>
          </p:cNvSpPr>
          <p:nvPr/>
        </p:nvSpPr>
        <p:spPr>
          <a:xfrm>
            <a:off x="626100" y="239087"/>
            <a:ext cx="10939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Decoder (Extended)</a:t>
            </a:r>
            <a:endParaRPr lang="en-GB"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endParaRPr lang="en-GB"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38CC4D-CC4C-0757-425D-CD689F75F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58" y="1155047"/>
            <a:ext cx="7074641" cy="533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065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d37a3bd29_0_289"/>
          <p:cNvSpPr txBox="1">
            <a:spLocks noGrp="1"/>
          </p:cNvSpPr>
          <p:nvPr>
            <p:ph type="title"/>
          </p:nvPr>
        </p:nvSpPr>
        <p:spPr>
          <a:xfrm>
            <a:off x="617700" y="241855"/>
            <a:ext cx="8596668" cy="89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Multiplier Unit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367" name="Google Shape;367;g35d37a3bd29_0_289"/>
          <p:cNvSpPr txBox="1">
            <a:spLocks noGrp="1"/>
          </p:cNvSpPr>
          <p:nvPr>
            <p:ph idx="1"/>
          </p:nvPr>
        </p:nvSpPr>
        <p:spPr>
          <a:xfrm>
            <a:off x="234243" y="1497099"/>
            <a:ext cx="9971642" cy="4697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8-bit Product Calculation:</a:t>
            </a:r>
          </a:p>
          <a:p>
            <a:pPr marL="576263" indent="-179388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400" dirty="0">
                <a:latin typeface="Montserrat" panose="00000500000000000000" pitchFamily="2" charset="0"/>
              </a:rPr>
              <a:t>Multiplies two 4-bit unsigned numbers (</a:t>
            </a:r>
            <a:r>
              <a:rPr lang="en-US" dirty="0">
                <a:latin typeface="Montserrat" panose="00000500000000000000" pitchFamily="2" charset="0"/>
              </a:rPr>
              <a:t>A</a:t>
            </a:r>
            <a:r>
              <a:rPr lang="en-US" sz="2400" dirty="0">
                <a:latin typeface="Montserrat" panose="00000500000000000000" pitchFamily="2" charset="0"/>
              </a:rPr>
              <a:t>, </a:t>
            </a:r>
            <a:r>
              <a:rPr lang="en-US" dirty="0">
                <a:latin typeface="Montserrat" panose="00000500000000000000" pitchFamily="2" charset="0"/>
              </a:rPr>
              <a:t>B</a:t>
            </a:r>
            <a:r>
              <a:rPr lang="en-US" sz="2400" dirty="0">
                <a:latin typeface="Montserrat" panose="00000500000000000000" pitchFamily="2" charset="0"/>
              </a:rPr>
              <a:t>) to generate an 8-bit product .</a:t>
            </a:r>
          </a:p>
          <a:p>
            <a:pPr marL="576263" indent="-179388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400" dirty="0">
                <a:latin typeface="Montserrat" panose="00000500000000000000" pitchFamily="2" charset="0"/>
              </a:rPr>
              <a:t>Example: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dirty="0">
                <a:latin typeface="Montserrat" panose="00000500000000000000" pitchFamily="2" charset="0"/>
              </a:rPr>
              <a:t>4 (0100) × 4 (0100) = 16 (00010000)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→ Lower 4 bits: </a:t>
            </a:r>
            <a:r>
              <a:rPr lang="en-US" dirty="0">
                <a:latin typeface="Montserrat" panose="00000500000000000000" pitchFamily="2" charset="0"/>
              </a:rPr>
              <a:t>0000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→ Upper 4 bits: </a:t>
            </a:r>
            <a:r>
              <a:rPr lang="en-US" dirty="0">
                <a:latin typeface="Montserrat" panose="00000500000000000000" pitchFamily="2" charset="0"/>
              </a:rPr>
              <a:t>0001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300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itchFamily="2" charset="0"/>
                <a:cs typeface="Arial" panose="020B0604020202020204" pitchFamily="34" charset="0"/>
              </a:rPr>
              <a:t>Overflow Detection Support: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Montserrat" pitchFamily="2" charset="0"/>
                <a:cs typeface="Arial" panose="020B0604020202020204" pitchFamily="34" charset="0"/>
              </a:rPr>
              <a:t>The ALU logic monitors the </a:t>
            </a:r>
            <a:r>
              <a:rPr lang="en-US" sz="2200" i="0" dirty="0">
                <a:solidFill>
                  <a:schemeClr val="tx1"/>
                </a:solidFill>
                <a:effectLst/>
                <a:latin typeface="Montserrat" pitchFamily="2" charset="0"/>
                <a:cs typeface="Arial" panose="020B0604020202020204" pitchFamily="34" charset="0"/>
              </a:rPr>
              <a:t>upper nibble 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Montserrat" pitchFamily="2" charset="0"/>
                <a:cs typeface="Arial" panose="020B0604020202020204" pitchFamily="34" charset="0"/>
              </a:rPr>
              <a:t>(bits 7 to 4) of the 8-bit product.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Montserrat" pitchFamily="2" charset="0"/>
                <a:cs typeface="Arial" panose="020B0604020202020204" pitchFamily="34" charset="0"/>
              </a:rPr>
              <a:t>If the upper bits are </a:t>
            </a:r>
            <a:r>
              <a:rPr lang="en-US" sz="2200" i="0" dirty="0">
                <a:solidFill>
                  <a:schemeClr val="tx1"/>
                </a:solidFill>
                <a:effectLst/>
                <a:latin typeface="Montserrat" pitchFamily="2" charset="0"/>
                <a:cs typeface="Arial" panose="020B0604020202020204" pitchFamily="34" charset="0"/>
              </a:rPr>
              <a:t>not equal to "0000",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Montserrat" pitchFamily="2" charset="0"/>
                <a:cs typeface="Arial" panose="020B0604020202020204" pitchFamily="34" charset="0"/>
              </a:rPr>
              <a:t> it indicates the result has exceeded the 4-bit data range.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Montserrat" pitchFamily="2" charset="0"/>
                <a:cs typeface="Arial" panose="020B0604020202020204" pitchFamily="34" charset="0"/>
              </a:rPr>
              <a:t>The </a:t>
            </a:r>
            <a:r>
              <a:rPr lang="en-US" sz="2200" i="0" dirty="0">
                <a:solidFill>
                  <a:schemeClr val="tx1"/>
                </a:solidFill>
                <a:effectLst/>
                <a:latin typeface="Montserrat" pitchFamily="2" charset="0"/>
                <a:cs typeface="Arial" panose="020B0604020202020204" pitchFamily="34" charset="0"/>
              </a:rPr>
              <a:t>Overflow Flag (LED15) 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Montserrat" pitchFamily="2" charset="0"/>
                <a:cs typeface="Arial" panose="020B0604020202020204" pitchFamily="34" charset="0"/>
              </a:rPr>
              <a:t>is automatically triggered to alert the user of the truncated result.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4137E-6657-ED69-B446-64BB7B341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B7D33E-D6AB-37F5-C3CD-AD600926D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400"/>
            <a:ext cx="7052726" cy="77230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DE3934-447F-B306-C56E-8CB7B7CB2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887709"/>
            <a:ext cx="7539741" cy="6283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D51EC7-AA8D-0A3A-EB64-3285650C8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901" y="4275046"/>
            <a:ext cx="4888285" cy="11169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E32C0A-9D18-661D-484D-D650C04C0DE5}"/>
              </a:ext>
            </a:extLst>
          </p:cNvPr>
          <p:cNvSpPr txBox="1"/>
          <p:nvPr/>
        </p:nvSpPr>
        <p:spPr>
          <a:xfrm>
            <a:off x="943896" y="3710867"/>
            <a:ext cx="2193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Overflow Detection</a:t>
            </a:r>
          </a:p>
        </p:txBody>
      </p:sp>
    </p:spTree>
    <p:extLst>
      <p:ext uri="{BB962C8B-B14F-4D97-AF65-F5344CB8AC3E}">
        <p14:creationId xmlns:p14="http://schemas.microsoft.com/office/powerpoint/2010/main" val="4491633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5d37a3bd29_0_304"/>
          <p:cNvSpPr txBox="1">
            <a:spLocks noGrp="1"/>
          </p:cNvSpPr>
          <p:nvPr>
            <p:ph type="title"/>
          </p:nvPr>
        </p:nvSpPr>
        <p:spPr>
          <a:xfrm>
            <a:off x="617699" y="8128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Montserrat"/>
                <a:ea typeface="Montserrat"/>
                <a:cs typeface="Montserrat"/>
                <a:sym typeface="Montserrat"/>
              </a:rPr>
              <a:t>Comparator Unit</a:t>
            </a:r>
            <a:endParaRPr dirty="0"/>
          </a:p>
        </p:txBody>
      </p:sp>
      <p:sp>
        <p:nvSpPr>
          <p:cNvPr id="397" name="Google Shape;397;g35d37a3bd29_0_304"/>
          <p:cNvSpPr txBox="1">
            <a:spLocks noGrp="1"/>
          </p:cNvSpPr>
          <p:nvPr>
            <p:ph idx="1"/>
          </p:nvPr>
        </p:nvSpPr>
        <p:spPr>
          <a:xfrm>
            <a:off x="624430" y="1338104"/>
            <a:ext cx="9058050" cy="562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Purpose:</a:t>
            </a:r>
          </a:p>
          <a:p>
            <a:pPr marL="457200" indent="-111125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Compares two 4-bit unsigned numbers (</a:t>
            </a:r>
            <a:r>
              <a:rPr lang="en-US" dirty="0" err="1">
                <a:latin typeface="Montserrat" panose="00000500000000000000" pitchFamily="2" charset="0"/>
              </a:rPr>
              <a:t>Input_A</a:t>
            </a:r>
            <a:r>
              <a:rPr lang="en-US" sz="2400" dirty="0">
                <a:latin typeface="Montserrat" panose="00000500000000000000" pitchFamily="2" charset="0"/>
              </a:rPr>
              <a:t>, </a:t>
            </a:r>
            <a:r>
              <a:rPr lang="en-US" dirty="0" err="1">
                <a:latin typeface="Montserrat" panose="00000500000000000000" pitchFamily="2" charset="0"/>
              </a:rPr>
              <a:t>Input_B</a:t>
            </a:r>
            <a:r>
              <a:rPr lang="en-US" sz="2400" dirty="0">
                <a:latin typeface="Montserrat" panose="00000500000000000000" pitchFamily="2" charset="0"/>
              </a:rPr>
              <a:t>) generates comparison result flags.</a:t>
            </a:r>
          </a:p>
          <a:p>
            <a:pPr marL="457200" indent="-111125">
              <a:buFont typeface="Arial" panose="020B0604020202020204" pitchFamily="34" charset="0"/>
              <a:buChar char="•"/>
            </a:pPr>
            <a:r>
              <a:rPr lang="en-US" dirty="0" err="1">
                <a:latin typeface="Montserrat" panose="00000500000000000000" pitchFamily="2" charset="0"/>
              </a:rPr>
              <a:t>Equal_Flag</a:t>
            </a:r>
            <a:r>
              <a:rPr lang="en-US" sz="2400" dirty="0">
                <a:latin typeface="Montserrat" panose="00000500000000000000" pitchFamily="2" charset="0"/>
              </a:rPr>
              <a:t> → Indicates both inputs are equal </a:t>
            </a:r>
          </a:p>
          <a:p>
            <a:pPr marL="457200" indent="-111125">
              <a:buFont typeface="Arial" panose="020B0604020202020204" pitchFamily="34" charset="0"/>
              <a:buChar char="•"/>
            </a:pPr>
            <a:r>
              <a:rPr lang="en-US" dirty="0" err="1">
                <a:latin typeface="Montserrat" panose="00000500000000000000" pitchFamily="2" charset="0"/>
              </a:rPr>
              <a:t>LessThan_Flag</a:t>
            </a:r>
            <a:r>
              <a:rPr lang="en-US" sz="2400" dirty="0">
                <a:latin typeface="Montserrat" panose="00000500000000000000" pitchFamily="2" charset="0"/>
              </a:rPr>
              <a:t> → Indicates </a:t>
            </a:r>
            <a:r>
              <a:rPr lang="en-US" dirty="0" err="1">
                <a:latin typeface="Montserrat" panose="00000500000000000000" pitchFamily="2" charset="0"/>
              </a:rPr>
              <a:t>Input_A</a:t>
            </a:r>
            <a:r>
              <a:rPr lang="en-US" dirty="0">
                <a:latin typeface="Montserrat" panose="00000500000000000000" pitchFamily="2" charset="0"/>
              </a:rPr>
              <a:t> &lt; </a:t>
            </a:r>
            <a:r>
              <a:rPr lang="en-US" dirty="0" err="1">
                <a:latin typeface="Montserrat" panose="00000500000000000000" pitchFamily="2" charset="0"/>
              </a:rPr>
              <a:t>Input_B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</a:p>
          <a:p>
            <a:pPr marL="457200" indent="-111125">
              <a:buFont typeface="Arial" panose="020B0604020202020204" pitchFamily="34" charset="0"/>
              <a:buChar char="•"/>
            </a:pPr>
            <a:r>
              <a:rPr lang="en-US" dirty="0" err="1">
                <a:latin typeface="Montserrat" panose="00000500000000000000" pitchFamily="2" charset="0"/>
              </a:rPr>
              <a:t>GreaterThan_Flag</a:t>
            </a:r>
            <a:r>
              <a:rPr lang="en-US" sz="2400" dirty="0">
                <a:latin typeface="Montserrat" panose="00000500000000000000" pitchFamily="2" charset="0"/>
              </a:rPr>
              <a:t> → Indicates </a:t>
            </a:r>
            <a:r>
              <a:rPr lang="en-US" dirty="0" err="1">
                <a:latin typeface="Montserrat" panose="00000500000000000000" pitchFamily="2" charset="0"/>
              </a:rPr>
              <a:t>Input_A</a:t>
            </a:r>
            <a:r>
              <a:rPr lang="en-US" dirty="0">
                <a:latin typeface="Montserrat" panose="00000500000000000000" pitchFamily="2" charset="0"/>
              </a:rPr>
              <a:t> &gt; </a:t>
            </a:r>
            <a:r>
              <a:rPr lang="en-US" dirty="0" err="1">
                <a:latin typeface="Montserrat" panose="00000500000000000000" pitchFamily="2" charset="0"/>
              </a:rPr>
              <a:t>Input_B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</a:p>
          <a:p>
            <a:pPr marL="457200" indent="-111125">
              <a:buNone/>
            </a:pPr>
            <a:endParaRPr lang="en-US" sz="2400" dirty="0">
              <a:latin typeface="Montserrat" panose="00000500000000000000" pitchFamily="2" charset="0"/>
            </a:endParaRP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How it works:</a:t>
            </a:r>
          </a:p>
          <a:p>
            <a:pPr marL="457200" indent="-111125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Uses unsigned arithmetic comparison from </a:t>
            </a:r>
            <a:r>
              <a:rPr lang="en-US" dirty="0" err="1">
                <a:latin typeface="Montserrat" panose="00000500000000000000" pitchFamily="2" charset="0"/>
              </a:rPr>
              <a:t>numeric_std</a:t>
            </a:r>
            <a:r>
              <a:rPr lang="en-US" sz="2400" dirty="0">
                <a:latin typeface="Montserrat" panose="00000500000000000000" pitchFamily="2" charset="0"/>
              </a:rPr>
              <a:t>:</a:t>
            </a:r>
          </a:p>
          <a:p>
            <a:pPr marL="690563" indent="-122238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If </a:t>
            </a:r>
            <a:r>
              <a:rPr lang="en-US" dirty="0" err="1">
                <a:latin typeface="Montserrat" panose="00000500000000000000" pitchFamily="2" charset="0"/>
              </a:rPr>
              <a:t>Input_A</a:t>
            </a:r>
            <a:r>
              <a:rPr lang="en-US" dirty="0">
                <a:latin typeface="Montserrat" panose="00000500000000000000" pitchFamily="2" charset="0"/>
              </a:rPr>
              <a:t> = </a:t>
            </a:r>
            <a:r>
              <a:rPr lang="en-US" dirty="0" err="1">
                <a:latin typeface="Montserrat" panose="00000500000000000000" pitchFamily="2" charset="0"/>
              </a:rPr>
              <a:t>Input_B</a:t>
            </a:r>
            <a:r>
              <a:rPr lang="en-US" sz="2400" dirty="0">
                <a:latin typeface="Montserrat" panose="00000500000000000000" pitchFamily="2" charset="0"/>
              </a:rPr>
              <a:t> → </a:t>
            </a:r>
            <a:r>
              <a:rPr lang="en-US" dirty="0" err="1">
                <a:latin typeface="Montserrat" panose="00000500000000000000" pitchFamily="2" charset="0"/>
              </a:rPr>
              <a:t>Equal_Flag</a:t>
            </a:r>
            <a:r>
              <a:rPr lang="en-US" dirty="0">
                <a:latin typeface="Montserrat" panose="00000500000000000000" pitchFamily="2" charset="0"/>
              </a:rPr>
              <a:t> = '1'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</a:p>
          <a:p>
            <a:pPr marL="690563" indent="-122238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If </a:t>
            </a:r>
            <a:r>
              <a:rPr lang="en-US" dirty="0" err="1">
                <a:latin typeface="Montserrat" panose="00000500000000000000" pitchFamily="2" charset="0"/>
              </a:rPr>
              <a:t>Input_A</a:t>
            </a:r>
            <a:r>
              <a:rPr lang="en-US" dirty="0">
                <a:latin typeface="Montserrat" panose="00000500000000000000" pitchFamily="2" charset="0"/>
              </a:rPr>
              <a:t> &lt; </a:t>
            </a:r>
            <a:r>
              <a:rPr lang="en-US" dirty="0" err="1">
                <a:latin typeface="Montserrat" panose="00000500000000000000" pitchFamily="2" charset="0"/>
              </a:rPr>
              <a:t>Input_B</a:t>
            </a:r>
            <a:r>
              <a:rPr lang="en-US" sz="2400" dirty="0">
                <a:latin typeface="Montserrat" panose="00000500000000000000" pitchFamily="2" charset="0"/>
              </a:rPr>
              <a:t> → </a:t>
            </a:r>
            <a:r>
              <a:rPr lang="en-US" dirty="0" err="1">
                <a:latin typeface="Montserrat" panose="00000500000000000000" pitchFamily="2" charset="0"/>
              </a:rPr>
              <a:t>LessThan_Flag</a:t>
            </a:r>
            <a:r>
              <a:rPr lang="en-US" dirty="0">
                <a:latin typeface="Montserrat" panose="00000500000000000000" pitchFamily="2" charset="0"/>
              </a:rPr>
              <a:t> = '1'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</a:p>
          <a:p>
            <a:pPr marL="690563" indent="-122238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If </a:t>
            </a:r>
            <a:r>
              <a:rPr lang="en-US" dirty="0" err="1">
                <a:latin typeface="Montserrat" panose="00000500000000000000" pitchFamily="2" charset="0"/>
              </a:rPr>
              <a:t>Input_A</a:t>
            </a:r>
            <a:r>
              <a:rPr lang="en-US" dirty="0">
                <a:latin typeface="Montserrat" panose="00000500000000000000" pitchFamily="2" charset="0"/>
              </a:rPr>
              <a:t> &gt; </a:t>
            </a:r>
            <a:r>
              <a:rPr lang="en-US" dirty="0" err="1">
                <a:latin typeface="Montserrat" panose="00000500000000000000" pitchFamily="2" charset="0"/>
              </a:rPr>
              <a:t>Input_B</a:t>
            </a:r>
            <a:r>
              <a:rPr lang="en-US" sz="2400" dirty="0">
                <a:latin typeface="Montserrat" panose="00000500000000000000" pitchFamily="2" charset="0"/>
              </a:rPr>
              <a:t> → </a:t>
            </a:r>
            <a:r>
              <a:rPr lang="en-US" dirty="0" err="1">
                <a:latin typeface="Montserrat" panose="00000500000000000000" pitchFamily="2" charset="0"/>
              </a:rPr>
              <a:t>GreaterThan_Flag</a:t>
            </a:r>
            <a:r>
              <a:rPr lang="en-US" dirty="0">
                <a:latin typeface="Montserrat" panose="00000500000000000000" pitchFamily="2" charset="0"/>
              </a:rPr>
              <a:t> = '1'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</a:p>
          <a:p>
            <a:pPr marL="457200" indent="-111125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Only one flag is asserted at a time, ensuring a clear comparison result.</a:t>
            </a: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96;g35d37a3bd29_0_304">
            <a:extLst>
              <a:ext uri="{FF2B5EF4-FFF2-40B4-BE49-F238E27FC236}">
                <a16:creationId xmlns:a16="http://schemas.microsoft.com/office/drawing/2014/main" id="{441DAC26-B253-E173-F212-BBD39FCA6E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7699" y="8128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Montserrat"/>
                <a:ea typeface="Montserrat"/>
                <a:cs typeface="Montserrat"/>
                <a:sym typeface="Montserrat"/>
              </a:rPr>
              <a:t>Comparator Unit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7C4C5C-B5E9-30AF-2E32-954D6A3ED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121" y="1068804"/>
            <a:ext cx="3942506" cy="558085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5d37a3bd29_0_321"/>
          <p:cNvSpPr txBox="1">
            <a:spLocks noGrp="1"/>
          </p:cNvSpPr>
          <p:nvPr>
            <p:ph type="title"/>
          </p:nvPr>
        </p:nvSpPr>
        <p:spPr>
          <a:xfrm>
            <a:off x="626534" y="9144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Bitwise Operator Unit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415" name="Google Shape;415;g35d37a3bd29_0_321"/>
          <p:cNvSpPr txBox="1">
            <a:spLocks noGrp="1"/>
          </p:cNvSpPr>
          <p:nvPr>
            <p:ph idx="1"/>
          </p:nvPr>
        </p:nvSpPr>
        <p:spPr>
          <a:xfrm>
            <a:off x="624840" y="1612265"/>
            <a:ext cx="10750500" cy="4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lnSpc>
                <a:spcPct val="178593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300" dirty="0">
                <a:latin typeface="Montserrat"/>
                <a:ea typeface="Montserrat"/>
                <a:cs typeface="Montserrat"/>
                <a:sym typeface="Montserrat"/>
              </a:rPr>
              <a:t>Performs bit-level logic operations between two 4-bit values:</a:t>
            </a:r>
            <a:endParaRPr sz="2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746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Montserrat"/>
              <a:buChar char="•"/>
            </a:pPr>
            <a:r>
              <a:rPr lang="en-GB" sz="2300" dirty="0">
                <a:latin typeface="Montserrat"/>
                <a:ea typeface="Montserrat"/>
                <a:cs typeface="Montserrat"/>
                <a:sym typeface="Montserrat"/>
              </a:rPr>
              <a:t>AND: Result = A &amp; B (Bitwise AND)</a:t>
            </a:r>
            <a:endParaRPr sz="2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•"/>
            </a:pPr>
            <a:r>
              <a:rPr lang="en-GB" sz="2300" dirty="0">
                <a:latin typeface="Montserrat"/>
                <a:ea typeface="Montserrat"/>
                <a:cs typeface="Montserrat"/>
                <a:sym typeface="Montserrat"/>
              </a:rPr>
              <a:t>OR: Result    = A | B   (Bitwise OR)</a:t>
            </a:r>
            <a:endParaRPr sz="2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3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4;g35d37a3bd29_0_321">
            <a:extLst>
              <a:ext uri="{FF2B5EF4-FFF2-40B4-BE49-F238E27FC236}">
                <a16:creationId xmlns:a16="http://schemas.microsoft.com/office/drawing/2014/main" id="{B72141D2-2CE4-D392-282E-B5350E710A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534" y="9144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Bitwise Operator Unit</a:t>
            </a:r>
            <a:endParaRPr dirty="0"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3D7ECC-5E0F-FA8C-377B-132359E27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782" y="1997900"/>
            <a:ext cx="6406308" cy="216987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d37a3bd29_0_255"/>
          <p:cNvSpPr txBox="1">
            <a:spLocks noGrp="1"/>
          </p:cNvSpPr>
          <p:nvPr>
            <p:ph type="title"/>
          </p:nvPr>
        </p:nvSpPr>
        <p:spPr>
          <a:xfrm>
            <a:off x="627459" y="236220"/>
            <a:ext cx="8596668" cy="79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Extended ALU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341" name="Google Shape;341;g35d37a3bd29_0_255"/>
          <p:cNvSpPr txBox="1">
            <a:spLocks noGrp="1"/>
          </p:cNvSpPr>
          <p:nvPr>
            <p:ph idx="1"/>
          </p:nvPr>
        </p:nvSpPr>
        <p:spPr>
          <a:xfrm>
            <a:off x="627459" y="1224511"/>
            <a:ext cx="9015305" cy="5181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-US" sz="2300" dirty="0" err="1">
                <a:latin typeface="Montserrat"/>
                <a:ea typeface="Montserrat"/>
                <a:cs typeface="Montserrat"/>
                <a:sym typeface="Montserrat"/>
              </a:rPr>
              <a:t>Extended_ALU</a:t>
            </a: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 performs multiple 4-bit arithmetic and logic operations based on the 4-bit Op control signal.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0000 → Addition (A + B)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0001 → Subtraction (A - B)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0010 → Negation (0 - B)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0011 → Multiplication (A × B)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0100 → Bitwise AND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0101 → Bitwise OR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1000 → Equal Comparison (A = B)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1001 → Greater Than Comparison (A &gt; B)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1010 → Less Than Comparison (A &lt; B)</a:t>
            </a:r>
            <a:endParaRPr sz="23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3678973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d37a3bd29_0_267"/>
          <p:cNvSpPr txBox="1">
            <a:spLocks noGrp="1"/>
          </p:cNvSpPr>
          <p:nvPr>
            <p:ph idx="1"/>
          </p:nvPr>
        </p:nvSpPr>
        <p:spPr>
          <a:xfrm>
            <a:off x="627459" y="1159500"/>
            <a:ext cx="10515600" cy="4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GB" sz="2300" b="1" dirty="0">
                <a:latin typeface="Montserrat"/>
                <a:ea typeface="Montserrat"/>
                <a:cs typeface="Montserrat"/>
                <a:sym typeface="Montserrat"/>
              </a:rPr>
              <a:t>Zero Detection &amp; Overflow Detection:</a:t>
            </a:r>
            <a:endParaRPr sz="23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2300" b="1" dirty="0"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sz="23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78593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3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340;g35d37a3bd29_0_255">
            <a:extLst>
              <a:ext uri="{FF2B5EF4-FFF2-40B4-BE49-F238E27FC236}">
                <a16:creationId xmlns:a16="http://schemas.microsoft.com/office/drawing/2014/main" id="{324E0034-BB25-1F9F-115D-42F2AED445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459" y="236220"/>
            <a:ext cx="8596668" cy="79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Extended ALU</a:t>
            </a:r>
            <a:endParaRPr dirty="0"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B2E001-CC1A-6534-D1DA-2CA89E876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59" y="1914923"/>
            <a:ext cx="8328654" cy="455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18457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5faeff9449_3_29"/>
          <p:cNvSpPr txBox="1">
            <a:spLocks noGrp="1"/>
          </p:cNvSpPr>
          <p:nvPr>
            <p:ph type="title"/>
          </p:nvPr>
        </p:nvSpPr>
        <p:spPr>
          <a:xfrm>
            <a:off x="617700" y="241857"/>
            <a:ext cx="8596668" cy="861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Montserrat"/>
                <a:ea typeface="Montserrat"/>
                <a:cs typeface="Montserrat"/>
                <a:sym typeface="Montserrat"/>
              </a:rPr>
              <a:t>Resource Utilization (Original)</a:t>
            </a:r>
            <a:endParaRPr dirty="0"/>
          </a:p>
        </p:txBody>
      </p:sp>
      <p:pic>
        <p:nvPicPr>
          <p:cNvPr id="4" name="Picture 3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CEAB0EFF-5D30-8D72-FDAD-E582B11220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145"/>
          <a:stretch>
            <a:fillRect/>
          </a:stretch>
        </p:blipFill>
        <p:spPr>
          <a:xfrm>
            <a:off x="911615" y="4773279"/>
            <a:ext cx="5269266" cy="18088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6546CE-9D9E-FDC1-11A2-73857D75D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15" y="911386"/>
            <a:ext cx="5757542" cy="18943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D0C73C-A4D3-AFB6-8F55-2064C18A8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15" y="2805707"/>
            <a:ext cx="5894362" cy="159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28178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5faeff9449_3_35"/>
          <p:cNvSpPr txBox="1">
            <a:spLocks noGrp="1"/>
          </p:cNvSpPr>
          <p:nvPr>
            <p:ph type="title"/>
          </p:nvPr>
        </p:nvSpPr>
        <p:spPr>
          <a:xfrm>
            <a:off x="621003" y="162232"/>
            <a:ext cx="9387698" cy="950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Montserrat"/>
                <a:ea typeface="Montserrat"/>
                <a:cs typeface="Montserrat"/>
                <a:sym typeface="Montserrat"/>
              </a:rPr>
              <a:t>Resource Utilization (Extended)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5D9CAB-0D8C-4218-1C48-A24D594A0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887" y="5049351"/>
            <a:ext cx="6793138" cy="16927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31AC1AB-35A9-CDAD-8420-0F3B4B6A2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886" y="3080282"/>
            <a:ext cx="6705771" cy="18330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6B66EE-B19D-5240-CADB-A0DD78B01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887" y="893254"/>
            <a:ext cx="6705771" cy="216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157318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FB40-0DA5-12E8-8B8E-4EE2F9ACA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59" y="216058"/>
            <a:ext cx="8596668" cy="1320800"/>
          </a:xfrm>
        </p:spPr>
        <p:txBody>
          <a:bodyPr/>
          <a:lstStyle/>
          <a:p>
            <a:r>
              <a:rPr lang="en-US" sz="4100" b="1" dirty="0">
                <a:latin typeface="Montserrat" pitchFamily="2" charset="0"/>
              </a:rPr>
              <a:t>Resource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sz="4100" b="1" dirty="0">
                <a:latin typeface="Montserrat" pitchFamily="2" charset="0"/>
              </a:rPr>
              <a:t>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AF5C7-9389-9C41-B168-AADA3840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59" y="646542"/>
            <a:ext cx="9091700" cy="6211458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endParaRPr lang="en-US" sz="1600" b="1" i="0" dirty="0">
              <a:solidFill>
                <a:srgbClr val="CCCCCC"/>
              </a:solidFill>
              <a:effectLst/>
              <a:latin typeface="Montserra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Montserrat" pitchFamily="2" charset="0"/>
              </a:rPr>
              <a:t>Component Modularity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effectLst/>
                <a:latin typeface="Montserrat" pitchFamily="2" charset="0"/>
              </a:rPr>
              <a:t> The same 4-bit Ripple Carry Adder (RCA) logic is used for both the Program Counter </a:t>
            </a:r>
            <a:r>
              <a:rPr lang="en-US" sz="1800" i="0" dirty="0" err="1">
                <a:solidFill>
                  <a:schemeClr val="tx1"/>
                </a:solidFill>
                <a:effectLst/>
                <a:latin typeface="Montserrat" pitchFamily="2" charset="0"/>
              </a:rPr>
              <a:t>incrementer</a:t>
            </a:r>
            <a:r>
              <a:rPr lang="en-US" sz="1800" i="0" dirty="0">
                <a:solidFill>
                  <a:schemeClr val="tx1"/>
                </a:solidFill>
                <a:effectLst/>
                <a:latin typeface="Montserrat" pitchFamily="2" charset="0"/>
              </a:rPr>
              <a:t> and the main ALU, reducing redundant gate logic.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Montserrat" pitchFamily="2" charset="0"/>
              </a:rPr>
              <a:t>Static Register R0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effectLst/>
                <a:latin typeface="Montserrat" pitchFamily="2" charset="0"/>
              </a:rPr>
              <a:t>Register R0 is hardwired to logic '0', allowing it to be used as a constant zero source for jumps and comparison without consuming flip-flops.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Montserrat" pitchFamily="2" charset="0"/>
              </a:rPr>
              <a:t>Selective Flag Latching: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effectLst/>
                <a:latin typeface="Montserrat" pitchFamily="2" charset="0"/>
              </a:rPr>
              <a:t>Comparison flags (EQ/LT/GT) only update during comparison instructions. This prevents "HALT" loops from overwriting results, ensuring display stability.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Montserrat" pitchFamily="2" charset="0"/>
              </a:rPr>
              <a:t>Distributed ROM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effectLst/>
                <a:latin typeface="Montserrat" pitchFamily="2" charset="0"/>
              </a:rPr>
              <a:t>The 16x14 ROM is implemented using LUTs rather than BRAM, keeping latency to a single clock cycle.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Montserrat" pitchFamily="2" charset="0"/>
              </a:rPr>
              <a:t>Bus definition package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anose="00000500000000000000" pitchFamily="2" charset="0"/>
              </a:rPr>
              <a:t>Using the </a:t>
            </a:r>
            <a:r>
              <a:rPr lang="en-US" dirty="0" err="1">
                <a:latin typeface="Montserrat" panose="00000500000000000000" pitchFamily="2" charset="0"/>
              </a:rPr>
              <a:t>BusDefinitions</a:t>
            </a:r>
            <a:r>
              <a:rPr lang="en-US" sz="1800" dirty="0">
                <a:latin typeface="Montserrat" panose="00000500000000000000" pitchFamily="2" charset="0"/>
              </a:rPr>
              <a:t> VHDL package improved modularity and reliability of the design. By standardizing common bus widths such as 3-bit address buses and 4-bit data buses, we reduced wiring errors, avoided bit-width mismatches, and made the system easier to maintain and expand.”</a:t>
            </a:r>
            <a:endParaRPr lang="en-US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814804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5d37a3bd29_0_425"/>
          <p:cNvSpPr txBox="1">
            <a:spLocks noGrp="1"/>
          </p:cNvSpPr>
          <p:nvPr>
            <p:ph type="title"/>
          </p:nvPr>
        </p:nvSpPr>
        <p:spPr>
          <a:xfrm>
            <a:off x="624238" y="156569"/>
            <a:ext cx="8596668" cy="986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Montserrat"/>
                <a:ea typeface="Montserrat"/>
                <a:cs typeface="Montserrat"/>
                <a:sym typeface="Montserrat"/>
              </a:rPr>
              <a:t>Team Contribution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109148-B2E1-94C6-CC19-66D270C14D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93"/>
          <a:stretch>
            <a:fillRect/>
          </a:stretch>
        </p:blipFill>
        <p:spPr>
          <a:xfrm>
            <a:off x="783008" y="1389762"/>
            <a:ext cx="8758549" cy="435505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>
          <a:extLst>
            <a:ext uri="{FF2B5EF4-FFF2-40B4-BE49-F238E27FC236}">
              <a16:creationId xmlns:a16="http://schemas.microsoft.com/office/drawing/2014/main" id="{0FA80A44-F1FA-2EF4-14B5-76C62F55E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5d37a3bd29_0_425">
            <a:extLst>
              <a:ext uri="{FF2B5EF4-FFF2-40B4-BE49-F238E27FC236}">
                <a16:creationId xmlns:a16="http://schemas.microsoft.com/office/drawing/2014/main" id="{99596464-AC79-E389-6041-EFEC79E2C4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4238" y="156569"/>
            <a:ext cx="8596668" cy="986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Montserrat"/>
                <a:ea typeface="Montserrat"/>
                <a:cs typeface="Montserrat"/>
                <a:sym typeface="Montserrat"/>
              </a:rPr>
              <a:t>Team Challenges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4E0FBF-B9D6-94E1-FB47-9B32F530EA0E}"/>
              </a:ext>
            </a:extLst>
          </p:cNvPr>
          <p:cNvSpPr txBox="1"/>
          <p:nvPr/>
        </p:nvSpPr>
        <p:spPr>
          <a:xfrm>
            <a:off x="624238" y="1401866"/>
            <a:ext cx="8967023" cy="3079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Connecting all submodules (PC, ROM, ALU, Register Bank, Decoder) correctly in the top file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Synchronizing all components with the slow clock caused timing mismatches.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7-segment display and LEDs not updating synchronously.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Hard to trace errors because design is fully modular.</a:t>
            </a:r>
          </a:p>
        </p:txBody>
      </p:sp>
    </p:spTree>
    <p:extLst>
      <p:ext uri="{BB962C8B-B14F-4D97-AF65-F5344CB8AC3E}">
        <p14:creationId xmlns:p14="http://schemas.microsoft.com/office/powerpoint/2010/main" val="507342656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5d37a3bd29_0_425"/>
          <p:cNvSpPr txBox="1">
            <a:spLocks noGrp="1"/>
          </p:cNvSpPr>
          <p:nvPr>
            <p:ph type="title"/>
          </p:nvPr>
        </p:nvSpPr>
        <p:spPr>
          <a:xfrm>
            <a:off x="405580" y="226142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dirty="0"/>
          </a:p>
        </p:txBody>
      </p:sp>
      <p:sp>
        <p:nvSpPr>
          <p:cNvPr id="499" name="Google Shape;499;g35d37a3bd29_0_425"/>
          <p:cNvSpPr txBox="1"/>
          <p:nvPr/>
        </p:nvSpPr>
        <p:spPr>
          <a:xfrm>
            <a:off x="405580" y="1784960"/>
            <a:ext cx="9731478" cy="418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buClr>
                <a:srgbClr val="92D050"/>
              </a:buClr>
              <a:buFont typeface="+mj-lt"/>
              <a:buAutoNum type="arabicPeriod"/>
            </a:pPr>
            <a:r>
              <a:rPr lang="en-US" sz="2000" i="0" dirty="0">
                <a:effectLst/>
                <a:latin typeface="Montserrat" pitchFamily="2" charset="0"/>
              </a:rPr>
              <a:t>  Achievements: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000" i="0" dirty="0">
                <a:effectLst/>
                <a:latin typeface="Montserrat" pitchFamily="2" charset="0"/>
              </a:rPr>
              <a:t>4-bit </a:t>
            </a:r>
            <a:r>
              <a:rPr lang="en-US" sz="2000" i="0" dirty="0" err="1">
                <a:effectLst/>
                <a:latin typeface="Montserrat" pitchFamily="2" charset="0"/>
              </a:rPr>
              <a:t>Nanoprocessor</a:t>
            </a:r>
            <a:r>
              <a:rPr lang="en-US" sz="2000" i="0" dirty="0">
                <a:effectLst/>
                <a:latin typeface="Montserrat" pitchFamily="2" charset="0"/>
              </a:rPr>
              <a:t>: Successfully executes 8 instructions (Arithmetic, Logic, and Branching).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000" i="0" dirty="0">
                <a:effectLst/>
                <a:latin typeface="Montserrat" pitchFamily="2" charset="0"/>
              </a:rPr>
              <a:t>Extended Functionality: Integrated  Multiplication, Comparisons (EQ, GT, LT), and Overflow detection.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000" i="0" dirty="0">
                <a:effectLst/>
                <a:latin typeface="Montserrat" pitchFamily="2" charset="0"/>
              </a:rPr>
              <a:t>Hardware Validation: Verified on BASYS 3 with real-time 7-segment display and status LED mapping.</a:t>
            </a:r>
          </a:p>
          <a:p>
            <a:pPr marL="457200" indent="-457200" algn="l">
              <a:buClr>
                <a:srgbClr val="92D050"/>
              </a:buClr>
              <a:buFont typeface="+mj-lt"/>
              <a:buAutoNum type="arabicPeriod"/>
            </a:pPr>
            <a:r>
              <a:rPr lang="en-US" sz="2000" i="0" dirty="0">
                <a:effectLst/>
                <a:latin typeface="Montserrat" pitchFamily="2" charset="0"/>
              </a:rPr>
              <a:t>Key Learnings: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000" i="0" dirty="0">
                <a:effectLst/>
                <a:latin typeface="Montserrat" pitchFamily="2" charset="0"/>
              </a:rPr>
              <a:t>Instruction Architecture: Designed a 14-bit instruction format to support an expanded operation set.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000" i="0" dirty="0">
                <a:effectLst/>
                <a:latin typeface="Montserrat" pitchFamily="2" charset="0"/>
              </a:rPr>
              <a:t> Mastered 4-bit  arithmetic and range validation (0 to 15).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000" i="0" dirty="0">
                <a:effectLst/>
                <a:latin typeface="Montserrat" pitchFamily="2" charset="0"/>
              </a:rPr>
              <a:t>Team Collaboration: Streamlined VHDL development through modular design and collaborative hardware testing.</a:t>
            </a:r>
          </a:p>
        </p:txBody>
      </p:sp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5cd49941e8_0_0"/>
          <p:cNvSpPr txBox="1">
            <a:spLocks noGrp="1"/>
          </p:cNvSpPr>
          <p:nvPr>
            <p:ph type="title"/>
          </p:nvPr>
        </p:nvSpPr>
        <p:spPr>
          <a:xfrm>
            <a:off x="0" y="1888642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 sz="9600" b="1">
                <a:latin typeface="Century Gothic" panose="020B0502020202020204" pitchFamily="34" charset="0"/>
                <a:ea typeface="Courier New"/>
                <a:cs typeface="Courier New"/>
                <a:sym typeface="Courier New"/>
              </a:rPr>
              <a:t>Thank You !</a:t>
            </a:r>
            <a:endParaRPr sz="13800">
              <a:latin typeface="Century Gothic" panose="020B0502020202020204" pitchFamily="34" charset="0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1220</TotalTime>
  <Words>1540</Words>
  <Application>Microsoft Office PowerPoint</Application>
  <PresentationFormat>Widescreen</PresentationFormat>
  <Paragraphs>227</Paragraphs>
  <Slides>31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Courier New</vt:lpstr>
      <vt:lpstr>Trebuchet MS</vt:lpstr>
      <vt:lpstr>Century Gothic</vt:lpstr>
      <vt:lpstr>Wingdings 3</vt:lpstr>
      <vt:lpstr>Montserrat</vt:lpstr>
      <vt:lpstr>Arial</vt:lpstr>
      <vt:lpstr>Calibri</vt:lpstr>
      <vt:lpstr>Facet</vt:lpstr>
      <vt:lpstr>Nano Processor Design and Implementation </vt:lpstr>
      <vt:lpstr>Project Objective </vt:lpstr>
      <vt:lpstr>Instruction Set Architecture </vt:lpstr>
      <vt:lpstr>Instruction Set Architecture </vt:lpstr>
      <vt:lpstr>Instruction Set Architecture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Additional Features</vt:lpstr>
      <vt:lpstr>PowerPoint Presentation</vt:lpstr>
      <vt:lpstr>PowerPoint Presentation</vt:lpstr>
      <vt:lpstr>PowerPoint Presentation</vt:lpstr>
      <vt:lpstr>PowerPoint Presentation</vt:lpstr>
      <vt:lpstr>Multiplier Unit</vt:lpstr>
      <vt:lpstr>Multiplier</vt:lpstr>
      <vt:lpstr>Comparator Unit</vt:lpstr>
      <vt:lpstr>Comparator Unit</vt:lpstr>
      <vt:lpstr>Bitwise Operator Unit</vt:lpstr>
      <vt:lpstr>Bitwise Operator Unit</vt:lpstr>
      <vt:lpstr>Extended ALU</vt:lpstr>
      <vt:lpstr>Extended ALU</vt:lpstr>
      <vt:lpstr>Resource Utilization (Original)</vt:lpstr>
      <vt:lpstr>Resource Utilization (Extended)</vt:lpstr>
      <vt:lpstr>Resource Optimization</vt:lpstr>
      <vt:lpstr>Team Contribution</vt:lpstr>
      <vt:lpstr>Team Challenges</vt:lpstr>
      <vt:lpstr>Conclusion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Dinisuru Sangadith</dc:creator>
  <cp:lastModifiedBy>Adeeshe Senadheera</cp:lastModifiedBy>
  <cp:revision>31</cp:revision>
  <dcterms:created xsi:type="dcterms:W3CDTF">2025-05-23T17:00:12Z</dcterms:created>
  <dcterms:modified xsi:type="dcterms:W3CDTF">2026-05-12T07:18:03Z</dcterms:modified>
</cp:coreProperties>
</file>