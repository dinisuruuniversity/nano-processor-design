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64"/>
  </p:notesMasterIdLst>
  <p:sldIdLst>
    <p:sldId id="256" r:id="rId2"/>
    <p:sldId id="257" r:id="rId3"/>
    <p:sldId id="258" r:id="rId4"/>
    <p:sldId id="325" r:id="rId5"/>
    <p:sldId id="326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27" r:id="rId30"/>
    <p:sldId id="329" r:id="rId31"/>
    <p:sldId id="286" r:id="rId32"/>
    <p:sldId id="330" r:id="rId33"/>
    <p:sldId id="288" r:id="rId34"/>
    <p:sldId id="331" r:id="rId35"/>
    <p:sldId id="290" r:id="rId36"/>
    <p:sldId id="291" r:id="rId37"/>
    <p:sldId id="332" r:id="rId38"/>
    <p:sldId id="333" r:id="rId39"/>
    <p:sldId id="334" r:id="rId40"/>
    <p:sldId id="293" r:id="rId41"/>
    <p:sldId id="295" r:id="rId42"/>
    <p:sldId id="296" r:id="rId43"/>
    <p:sldId id="336" r:id="rId44"/>
    <p:sldId id="337" r:id="rId45"/>
    <p:sldId id="301" r:id="rId46"/>
    <p:sldId id="303" r:id="rId47"/>
    <p:sldId id="304" r:id="rId48"/>
    <p:sldId id="306" r:id="rId49"/>
    <p:sldId id="307" r:id="rId50"/>
    <p:sldId id="309" r:id="rId51"/>
    <p:sldId id="310" r:id="rId52"/>
    <p:sldId id="297" r:id="rId53"/>
    <p:sldId id="335" r:id="rId54"/>
    <p:sldId id="298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</p:sldIdLst>
  <p:sldSz cx="12192000" cy="6858000"/>
  <p:notesSz cx="6858000" cy="9144000"/>
  <p:embeddedFontLst>
    <p:embeddedFont>
      <p:font typeface="Century Gothic" panose="020B0502020202020204" pitchFamily="34" charset="0"/>
      <p:regular r:id="rId65"/>
      <p:bold r:id="rId66"/>
      <p:italic r:id="rId67"/>
      <p:boldItalic r:id="rId68"/>
    </p:embeddedFont>
    <p:embeddedFont>
      <p:font typeface="Century Schoolbook" panose="02040604050505020304" pitchFamily="18" charset="0"/>
      <p:regular r:id="rId69"/>
      <p:bold r:id="rId70"/>
      <p:italic r:id="rId71"/>
      <p:boldItalic r:id="rId72"/>
    </p:embeddedFont>
    <p:embeddedFont>
      <p:font typeface="Consolas" panose="020B0609020204030204" pitchFamily="49" charset="0"/>
      <p:regular r:id="rId73"/>
      <p:bold r:id="rId74"/>
      <p:italic r:id="rId75"/>
      <p:boldItalic r:id="rId76"/>
    </p:embeddedFont>
    <p:embeddedFont>
      <p:font typeface="Montserrat" pitchFamily="2" charset="0"/>
      <p:regular r:id="rId77"/>
      <p:bold r:id="rId78"/>
      <p:italic r:id="rId79"/>
      <p:boldItalic r:id="rId80"/>
    </p:embeddedFont>
    <p:embeddedFont>
      <p:font typeface="Roboto" panose="02000000000000000000" pitchFamily="2" charset="0"/>
      <p:regular r:id="rId81"/>
      <p:bold r:id="rId82"/>
      <p:italic r:id="rId83"/>
      <p:boldItalic r:id="rId84"/>
    </p:embeddedFont>
    <p:embeddedFont>
      <p:font typeface="Trebuchet MS" panose="020B0603020202020204" pitchFamily="34" charset="0"/>
      <p:regular r:id="rId85"/>
      <p:bold r:id="rId86"/>
      <p:italic r:id="rId87"/>
      <p:boldItalic r:id="rId88"/>
    </p:embeddedFont>
    <p:embeddedFont>
      <p:font typeface="Wingdings 3" panose="05040102010807070707" pitchFamily="18" charset="2"/>
      <p:regular r:id="rId8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8" roundtripDataSignature="AMtx7mghfS9FrRZfmv33xO/r6CgEJjWJ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6DB7BC-04C5-4DF7-9EBF-0593D65B585B}">
  <a:tblStyle styleId="{DC6DB7BC-04C5-4DF7-9EBF-0593D65B58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84" Type="http://schemas.openxmlformats.org/officeDocument/2006/relationships/font" Target="fonts/font20.fntdata"/><Relationship Id="rId89" Type="http://schemas.openxmlformats.org/officeDocument/2006/relationships/font" Target="fonts/font2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0.fntdata"/><Relationship Id="rId79" Type="http://schemas.openxmlformats.org/officeDocument/2006/relationships/font" Target="fonts/font15.fntdata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font" Target="fonts/font16.fntdata"/><Relationship Id="rId85" Type="http://schemas.openxmlformats.org/officeDocument/2006/relationships/font" Target="fonts/font21.fntdata"/><Relationship Id="rId9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103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83" Type="http://schemas.openxmlformats.org/officeDocument/2006/relationships/font" Target="fonts/font19.fntdata"/><Relationship Id="rId88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font" Target="fonts/font14.fntdata"/><Relationship Id="rId81" Type="http://schemas.openxmlformats.org/officeDocument/2006/relationships/font" Target="fonts/font17.fntdata"/><Relationship Id="rId86" Type="http://schemas.openxmlformats.org/officeDocument/2006/relationships/font" Target="fonts/font22.fntdata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2.fntdata"/><Relationship Id="rId87" Type="http://schemas.openxmlformats.org/officeDocument/2006/relationships/font" Target="fonts/font23.fntdata"/><Relationship Id="rId61" Type="http://schemas.openxmlformats.org/officeDocument/2006/relationships/slide" Target="slides/slide60.xml"/><Relationship Id="rId82" Type="http://schemas.openxmlformats.org/officeDocument/2006/relationships/font" Target="fonts/font1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font" Target="fonts/font13.fntdata"/><Relationship Id="rId10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0/57 Dinisuru niluminda" userId="c1d176a2ff4d0160" providerId="LiveId" clId="{6A52AB38-AC38-4EBF-8C1E-308061A0A1D3}"/>
    <pc:docChg chg="delSld">
      <pc:chgData name="20/57 Dinisuru niluminda" userId="c1d176a2ff4d0160" providerId="LiveId" clId="{6A52AB38-AC38-4EBF-8C1E-308061A0A1D3}" dt="2026-05-10T07:29:54.483" v="1" actId="47"/>
      <pc:docMkLst>
        <pc:docMk/>
      </pc:docMkLst>
      <pc:sldChg chg="del">
        <pc:chgData name="20/57 Dinisuru niluminda" userId="c1d176a2ff4d0160" providerId="LiveId" clId="{6A52AB38-AC38-4EBF-8C1E-308061A0A1D3}" dt="2026-05-10T07:29:52.297" v="0" actId="47"/>
        <pc:sldMkLst>
          <pc:docMk/>
          <pc:sldMk cId="0" sldId="260"/>
        </pc:sldMkLst>
      </pc:sldChg>
      <pc:sldChg chg="del">
        <pc:chgData name="20/57 Dinisuru niluminda" userId="c1d176a2ff4d0160" providerId="LiveId" clId="{6A52AB38-AC38-4EBF-8C1E-308061A0A1D3}" dt="2026-05-10T07:29:54.483" v="1" actId="47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D43DABB-594C-45EC-E2B9-456B8590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>
            <a:extLst>
              <a:ext uri="{FF2B5EF4-FFF2-40B4-BE49-F238E27FC236}">
                <a16:creationId xmlns:a16="http://schemas.microsoft.com/office/drawing/2014/main" id="{21DDD609-0A96-0D25-CC78-A322AC5E2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6:notes">
            <a:extLst>
              <a:ext uri="{FF2B5EF4-FFF2-40B4-BE49-F238E27FC236}">
                <a16:creationId xmlns:a16="http://schemas.microsoft.com/office/drawing/2014/main" id="{1F796205-C9CF-363D-45EB-BBFB5375BA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07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AD66D84-88CC-98A6-44D3-435CB0453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>
            <a:extLst>
              <a:ext uri="{FF2B5EF4-FFF2-40B4-BE49-F238E27FC236}">
                <a16:creationId xmlns:a16="http://schemas.microsoft.com/office/drawing/2014/main" id="{DE91C35B-86A8-6ED1-050B-207C3C91C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6:notes">
            <a:extLst>
              <a:ext uri="{FF2B5EF4-FFF2-40B4-BE49-F238E27FC236}">
                <a16:creationId xmlns:a16="http://schemas.microsoft.com/office/drawing/2014/main" id="{B8354801-5C02-3AAD-D49A-0F6B07B35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9389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d37a3bd2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g35d37a3bd2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d37a3bd29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g35d37a3bd29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d37a3bd29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5d37a3bd29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d37a3bd29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35d37a3bd29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d37a3bd29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g35d37a3bd29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d37a3bd29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5d37a3bd29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d37a3bd29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g35d37a3bd29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d37a3bd29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g35d37a3bd29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d37a3bd29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g35d37a3bd29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d37a3bd29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g35d37a3bd29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d37a3bd29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2" name="Google Shape;212;g35d37a3bd29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d37a3bd2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4" name="Google Shape;224;g35d37a3bd2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faeff944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faeff944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faeff9449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faeff9449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d37a3bd29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2" name="Google Shape;242;g35d37a3bd29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d37a3bd29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8" name="Google Shape;248;g35d37a3bd29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d37a3bd2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35d37a3bd2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d37a3bd29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g35d37a3bd29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>
          <a:extLst>
            <a:ext uri="{FF2B5EF4-FFF2-40B4-BE49-F238E27FC236}">
              <a16:creationId xmlns:a16="http://schemas.microsoft.com/office/drawing/2014/main" id="{FFFDA80D-F5B9-FC6A-29CD-5111B47D3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d37a3bd29_0_242:notes">
            <a:extLst>
              <a:ext uri="{FF2B5EF4-FFF2-40B4-BE49-F238E27FC236}">
                <a16:creationId xmlns:a16="http://schemas.microsoft.com/office/drawing/2014/main" id="{333CB219-CF49-7836-7274-F0A5B1E21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g35d37a3bd29_0_242:notes">
            <a:extLst>
              <a:ext uri="{FF2B5EF4-FFF2-40B4-BE49-F238E27FC236}">
                <a16:creationId xmlns:a16="http://schemas.microsoft.com/office/drawing/2014/main" id="{44082E25-9798-E87E-840C-57A5D8090B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24182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>
          <a:extLst>
            <a:ext uri="{FF2B5EF4-FFF2-40B4-BE49-F238E27FC236}">
              <a16:creationId xmlns:a16="http://schemas.microsoft.com/office/drawing/2014/main" id="{21577652-715F-514C-B986-C49F8E8E9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5d37a3bd29_0_242:notes">
            <a:extLst>
              <a:ext uri="{FF2B5EF4-FFF2-40B4-BE49-F238E27FC236}">
                <a16:creationId xmlns:a16="http://schemas.microsoft.com/office/drawing/2014/main" id="{1F7F198E-529D-587B-C6FF-1FE150994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" name="Google Shape;260;g35d37a3bd29_0_242:notes">
            <a:extLst>
              <a:ext uri="{FF2B5EF4-FFF2-40B4-BE49-F238E27FC236}">
                <a16:creationId xmlns:a16="http://schemas.microsoft.com/office/drawing/2014/main" id="{68AEE28A-437D-928D-8EC3-3422C4295D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579297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faeff9449_3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" name="Google Shape;272;g35faeff9449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>
          <a:extLst>
            <a:ext uri="{FF2B5EF4-FFF2-40B4-BE49-F238E27FC236}">
              <a16:creationId xmlns:a16="http://schemas.microsoft.com/office/drawing/2014/main" id="{E42D0F82-12CC-BA09-A38E-4DF50CC58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faeff9449_3_21:notes">
            <a:extLst>
              <a:ext uri="{FF2B5EF4-FFF2-40B4-BE49-F238E27FC236}">
                <a16:creationId xmlns:a16="http://schemas.microsoft.com/office/drawing/2014/main" id="{89B1290B-320D-A231-A27A-0A986F8D7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" name="Google Shape;272;g35faeff9449_3_21:notes">
            <a:extLst>
              <a:ext uri="{FF2B5EF4-FFF2-40B4-BE49-F238E27FC236}">
                <a16:creationId xmlns:a16="http://schemas.microsoft.com/office/drawing/2014/main" id="{AE6D501D-D88B-D1D3-95ED-A66204543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05397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4" name="Google Shape;2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>
          <a:extLst>
            <a:ext uri="{FF2B5EF4-FFF2-40B4-BE49-F238E27FC236}">
              <a16:creationId xmlns:a16="http://schemas.microsoft.com/office/drawing/2014/main" id="{7F074691-4B1D-9227-28C8-22A967D6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>
            <a:extLst>
              <a:ext uri="{FF2B5EF4-FFF2-40B4-BE49-F238E27FC236}">
                <a16:creationId xmlns:a16="http://schemas.microsoft.com/office/drawing/2014/main" id="{28B1688F-62AA-9DEA-80AF-7B97B2E1FA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4" name="Google Shape;284;p12:notes">
            <a:extLst>
              <a:ext uri="{FF2B5EF4-FFF2-40B4-BE49-F238E27FC236}">
                <a16:creationId xmlns:a16="http://schemas.microsoft.com/office/drawing/2014/main" id="{E0574804-6076-FD6E-4401-5D48DD52F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74897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d37a3bd29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6" name="Google Shape;296;g35d37a3bd29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faeff9449_3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g35faeff9449_3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6C6F2BC6-9F21-0B8C-FD5D-2154B37D8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faeff9449_3_47:notes">
            <a:extLst>
              <a:ext uri="{FF2B5EF4-FFF2-40B4-BE49-F238E27FC236}">
                <a16:creationId xmlns:a16="http://schemas.microsoft.com/office/drawing/2014/main" id="{B16631A0-5F57-6299-2DF9-5FD0DF69B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g35faeff9449_3_47:notes">
            <a:extLst>
              <a:ext uri="{FF2B5EF4-FFF2-40B4-BE49-F238E27FC236}">
                <a16:creationId xmlns:a16="http://schemas.microsoft.com/office/drawing/2014/main" id="{172996F3-1AB6-E64A-EB6F-EC3AD559C4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84417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8C470C7C-DC3D-909D-F429-DA6F6335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faeff9449_3_47:notes">
            <a:extLst>
              <a:ext uri="{FF2B5EF4-FFF2-40B4-BE49-F238E27FC236}">
                <a16:creationId xmlns:a16="http://schemas.microsoft.com/office/drawing/2014/main" id="{CC5F7A8E-CEE4-80C2-7B38-B33FB6AFC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g35faeff9449_3_47:notes">
            <a:extLst>
              <a:ext uri="{FF2B5EF4-FFF2-40B4-BE49-F238E27FC236}">
                <a16:creationId xmlns:a16="http://schemas.microsoft.com/office/drawing/2014/main" id="{771BCF23-6692-B147-0FB0-36C2C3A5E9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62039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FB29E2AA-947E-90C5-D089-08CBAD20F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faeff9449_3_47:notes">
            <a:extLst>
              <a:ext uri="{FF2B5EF4-FFF2-40B4-BE49-F238E27FC236}">
                <a16:creationId xmlns:a16="http://schemas.microsoft.com/office/drawing/2014/main" id="{C04FD5EC-8501-3B15-E14E-DD540F1AF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g35faeff9449_3_47:notes">
            <a:extLst>
              <a:ext uri="{FF2B5EF4-FFF2-40B4-BE49-F238E27FC236}">
                <a16:creationId xmlns:a16="http://schemas.microsoft.com/office/drawing/2014/main" id="{487A206E-C162-F121-E4DB-1EE6AD4CA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7988793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faeff944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faeff944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faeff9449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faeff9449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5d37a3bd29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3" name="Google Shape;333;g35d37a3bd29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>
          <a:extLst>
            <a:ext uri="{FF2B5EF4-FFF2-40B4-BE49-F238E27FC236}">
              <a16:creationId xmlns:a16="http://schemas.microsoft.com/office/drawing/2014/main" id="{05EEF2D1-2A49-35AD-A90A-C6CA21BC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d37a3bd29_0_289:notes">
            <a:extLst>
              <a:ext uri="{FF2B5EF4-FFF2-40B4-BE49-F238E27FC236}">
                <a16:creationId xmlns:a16="http://schemas.microsoft.com/office/drawing/2014/main" id="{A849AD4B-A43F-9249-ADBF-8191FEB849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4" name="Google Shape;364;g35d37a3bd29_0_289:notes">
            <a:extLst>
              <a:ext uri="{FF2B5EF4-FFF2-40B4-BE49-F238E27FC236}">
                <a16:creationId xmlns:a16="http://schemas.microsoft.com/office/drawing/2014/main" id="{B74730CD-F8DA-696A-F831-B56756596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71509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>
          <a:extLst>
            <a:ext uri="{FF2B5EF4-FFF2-40B4-BE49-F238E27FC236}">
              <a16:creationId xmlns:a16="http://schemas.microsoft.com/office/drawing/2014/main" id="{1BDD8F63-17DA-5188-DC6C-4353EE9A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d37a3bd29_0_298:notes">
            <a:extLst>
              <a:ext uri="{FF2B5EF4-FFF2-40B4-BE49-F238E27FC236}">
                <a16:creationId xmlns:a16="http://schemas.microsoft.com/office/drawing/2014/main" id="{4E6729E9-6784-50EA-31AA-EE724CB1A6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5d37a3bd29_0_298:notes">
            <a:extLst>
              <a:ext uri="{FF2B5EF4-FFF2-40B4-BE49-F238E27FC236}">
                <a16:creationId xmlns:a16="http://schemas.microsoft.com/office/drawing/2014/main" id="{EB061B02-D3D5-BE55-5A54-33802A5E5C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60580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5d37a3bd29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4" name="Google Shape;364;g35d37a3bd29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d37a3bd29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35d37a3bd29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faeff9449_3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5faeff9449_3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d37a3bd29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4" name="Google Shape;394;g35d37a3bd29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d37a3bd29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0" name="Google Shape;400;g35d37a3bd29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5d37a3bd29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2" name="Google Shape;412;g35d37a3bd29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5d37a3bd29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8" name="Google Shape;418;g35d37a3bd29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d37a3bd29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8" name="Google Shape;338;g35d37a3bd2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121100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69EEB6C4-CAE2-43E6-A0DF-2D5E622B7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d37a3bd29_0_255:notes">
            <a:extLst>
              <a:ext uri="{FF2B5EF4-FFF2-40B4-BE49-F238E27FC236}">
                <a16:creationId xmlns:a16="http://schemas.microsoft.com/office/drawing/2014/main" id="{D8B44CC8-B22D-6986-F1E7-3C9B18631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8" name="Google Shape;338;g35d37a3bd29_0_255:notes">
            <a:extLst>
              <a:ext uri="{FF2B5EF4-FFF2-40B4-BE49-F238E27FC236}">
                <a16:creationId xmlns:a16="http://schemas.microsoft.com/office/drawing/2014/main" id="{AF423F7E-3C35-6577-6DA4-BE9F51E04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4864354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5d37a3bd29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35d37a3bd29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39220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d37a3bd29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0" name="Google Shape;460;g35d37a3bd29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5d37a3bd29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6" name="Google Shape;466;g35d37a3bd29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2" name="Google Shape;4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5d37a3bd29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8" name="Google Shape;478;g35d37a3bd29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5faeff9449_3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4" name="Google Shape;484;g35faeff9449_3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5faeff9449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0" name="Google Shape;490;g35faeff9449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d37a3bd29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6" name="Google Shape;496;g35d37a3bd29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5cd49941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2" name="Google Shape;502;g35cd49941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785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88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26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03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75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5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34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79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300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4337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18791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33372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28129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3030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9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364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39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19540" y="179632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8181"/>
              <a:buFont typeface="Calibri"/>
              <a:buNone/>
            </a:pPr>
            <a:r>
              <a:rPr lang="en-GB" sz="6111" b="1" dirty="0">
                <a:latin typeface="Century Schoolbook" panose="02040604050505020304" pitchFamily="18" charset="0"/>
                <a:ea typeface="Courier New"/>
                <a:cs typeface="Courier New"/>
                <a:sym typeface="Courier New"/>
              </a:rPr>
              <a:t>Nano Processor Design and </a:t>
            </a:r>
            <a:r>
              <a:rPr lang="en-GB" sz="6666" b="1" dirty="0">
                <a:latin typeface="Century Schoolbook" panose="02040604050505020304" pitchFamily="18" charset="0"/>
                <a:ea typeface="Courier New"/>
                <a:cs typeface="Courier New"/>
                <a:sym typeface="Courier New"/>
              </a:rPr>
              <a:t>Implementation</a:t>
            </a:r>
            <a:endParaRPr sz="6666" b="1" dirty="0">
              <a:latin typeface="Century Schoolbook" panose="02040604050505020304" pitchFamily="18" charset="0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8181"/>
              <a:buFont typeface="Calibri"/>
              <a:buNone/>
            </a:pPr>
            <a:endParaRPr sz="6111" dirty="0">
              <a:latin typeface="Century Schoolbook" panose="02040604050505020304" pitchFamily="18" charset="0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619540" y="3454609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32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  <a:sym typeface="Courier New"/>
              </a:rPr>
              <a:t>Group 20</a:t>
            </a:r>
            <a:endParaRPr sz="32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Courier New"/>
              <a:cs typeface="Arial" panose="020B0604020202020204" pitchFamily="34" charset="0"/>
              <a:sym typeface="Courier New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11FF358C-7A1A-7357-91F2-42DD1EE82E50}"/>
              </a:ext>
            </a:extLst>
          </p:cNvPr>
          <p:cNvSpPr txBox="1">
            <a:spLocks/>
          </p:cNvSpPr>
          <p:nvPr/>
        </p:nvSpPr>
        <p:spPr>
          <a:xfrm>
            <a:off x="2869817" y="4159050"/>
            <a:ext cx="4644885" cy="165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ourier New"/>
                <a:cs typeface="Arial" panose="020B0604020202020204" pitchFamily="34" charset="0"/>
                <a:sym typeface="Courier New"/>
              </a:rPr>
              <a:t>Senadheera S.D.A.P. 		- 	240604V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600" b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Sangadith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K.G.D.N			-	240593H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600" b="1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Shanujah</a:t>
            </a: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S.				-	240618R </a:t>
            </a:r>
            <a:endParaRPr lang="en-US" sz="16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Courier New"/>
              <a:cs typeface="Arial" panose="020B0604020202020204" pitchFamily="34" charset="0"/>
              <a:sym typeface="Courier New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Saranyu M.				-	240295L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endParaRPr lang="en-US" sz="16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Courier New"/>
              <a:cs typeface="Arial" panose="020B0604020202020204" pitchFamily="34" charset="0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617520" y="233906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golian Baiti" panose="03000500000000000000" pitchFamily="66" charset="0"/>
                <a:sym typeface="Montserrat"/>
              </a:rPr>
              <a:t>Project Objective</a:t>
            </a:r>
            <a:endParaRPr sz="4500" b="1" dirty="0">
              <a:latin typeface="Century Gothic" panose="020B0502020202020204" pitchFamily="34" charset="0"/>
              <a:ea typeface="Montserrat"/>
              <a:cs typeface="Mongolian Baiti" panose="03000500000000000000" pitchFamily="66" charset="0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dirty="0">
              <a:latin typeface="Century Gothic" panose="020B0502020202020204" pitchFamily="34" charset="0"/>
              <a:cs typeface="Mongolian Baiti" panose="03000500000000000000" pitchFamily="66" charset="0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idx="1"/>
          </p:nvPr>
        </p:nvSpPr>
        <p:spPr>
          <a:xfrm>
            <a:off x="627458" y="1518163"/>
            <a:ext cx="9112889" cy="5180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endParaRPr sz="2400" b="1" dirty="0">
              <a:solidFill>
                <a:schemeClr val="tx1"/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Design and implement a 4-bit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NanoProcessor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in VHDL capable of executing an 8-instruction ISA, then verify it on the </a:t>
            </a:r>
            <a:r>
              <a:rPr lang="en-US" sz="2400" b="1" dirty="0" err="1">
                <a:solidFill>
                  <a:schemeClr val="tx1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Basys</a:t>
            </a:r>
            <a:r>
              <a:rPr lang="en-US" sz="2400" b="1" dirty="0">
                <a:solidFill>
                  <a:schemeClr val="tx1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3 FPGA development board.</a:t>
            </a:r>
            <a:endParaRPr lang="en-US" sz="24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1"/>
                </a:solidFill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Extend functionality with bitwise operations (AND/OR), 4-bit multiplication, and comparison.</a:t>
            </a:r>
            <a:endParaRPr sz="2400" b="1" dirty="0">
              <a:solidFill>
                <a:schemeClr val="tx1"/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endParaRPr sz="2400" b="1" dirty="0">
              <a:solidFill>
                <a:schemeClr val="tx1"/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018"/>
              <a:buNone/>
            </a:pPr>
            <a:endParaRPr sz="2400" b="1" dirty="0">
              <a:solidFill>
                <a:schemeClr val="tx1"/>
              </a:solidFill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228600" lvl="0" indent="-50800" algn="l" rtl="0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1400" b="1" dirty="0">
              <a:solidFill>
                <a:schemeClr val="tx1"/>
              </a:solidFill>
              <a:highlight>
                <a:srgbClr val="292A2D"/>
              </a:highlight>
              <a:latin typeface="Century Gothic" panose="020B0502020202020204" pitchFamily="34" charset="0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>
            <a:spLocks noGrp="1"/>
          </p:cNvSpPr>
          <p:nvPr>
            <p:ph type="title"/>
          </p:nvPr>
        </p:nvSpPr>
        <p:spPr>
          <a:xfrm>
            <a:off x="617700" y="24185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Set Architecture</a:t>
            </a: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97" name="Google Shape;97;p6"/>
          <p:cNvSpPr txBox="1">
            <a:spLocks noGrp="1"/>
          </p:cNvSpPr>
          <p:nvPr>
            <p:ph idx="1"/>
          </p:nvPr>
        </p:nvSpPr>
        <p:spPr>
          <a:xfrm>
            <a:off x="617700" y="1441647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Basic design 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" name="Google Shape;98;p6"/>
          <p:cNvGraphicFramePr/>
          <p:nvPr>
            <p:extLst>
              <p:ext uri="{D42A27DB-BD31-4B8C-83A1-F6EECF244321}">
                <p14:modId xmlns:p14="http://schemas.microsoft.com/office/powerpoint/2010/main" val="881392802"/>
              </p:ext>
            </p:extLst>
          </p:nvPr>
        </p:nvGraphicFramePr>
        <p:xfrm>
          <a:off x="767581" y="2158448"/>
          <a:ext cx="8446787" cy="3411324"/>
        </p:xfrm>
        <a:graphic>
          <a:graphicData uri="http://schemas.openxmlformats.org/drawingml/2006/table">
            <a:tbl>
              <a:tblPr>
                <a:noFill/>
                <a:tableStyleId>{DC6DB7BC-04C5-4DF7-9EBF-0593D65B585B}</a:tableStyleId>
              </a:tblPr>
              <a:tblGrid>
                <a:gridCol w="1764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Instruction</a:t>
                      </a:r>
                      <a:endParaRPr sz="2000" b="1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0" marR="0" marT="0" marB="0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Description</a:t>
                      </a:r>
                      <a:endParaRPr sz="20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1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Instruction</a:t>
                      </a:r>
                      <a:endParaRPr sz="2000" b="1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MOVI R, d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Load immediate d into R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1">
                          <a:solidFill>
                            <a:schemeClr val="accent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RRR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dddd</a:t>
                      </a:r>
                      <a:endParaRPr sz="2000" b="1">
                        <a:solidFill>
                          <a:schemeClr val="accent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ADD Ra, Rb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 = Ra + Rb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1">
                          <a:solidFill>
                            <a:schemeClr val="accent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RaRaRa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RbRbRb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0000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NEG R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 = -R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1">
                          <a:solidFill>
                            <a:schemeClr val="accent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accen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RRR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0000000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JZR R, d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Jump to d if R == 0</a:t>
                      </a:r>
                      <a:endParaRPr sz="20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b="1" dirty="0">
                          <a:solidFill>
                            <a:schemeClr val="accent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r>
                        <a:rPr lang="en-GB" sz="20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 dirty="0">
                          <a:solidFill>
                            <a:schemeClr val="accent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RRR</a:t>
                      </a:r>
                      <a:r>
                        <a:rPr lang="en-GB" sz="20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0000</a:t>
                      </a:r>
                      <a:r>
                        <a:rPr lang="en-GB" sz="200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rgbClr val="99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ddd</a:t>
                      </a:r>
                      <a:endParaRPr sz="2000" b="1" dirty="0">
                        <a:solidFill>
                          <a:srgbClr val="9900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1CA7649F-ADCE-D88E-4351-72483B3E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>
            <a:extLst>
              <a:ext uri="{FF2B5EF4-FFF2-40B4-BE49-F238E27FC236}">
                <a16:creationId xmlns:a16="http://schemas.microsoft.com/office/drawing/2014/main" id="{334CDF5A-BBCA-B768-9FAF-D4BE7B77A1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700" y="24185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Set Architecture</a:t>
            </a: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97" name="Google Shape;97;p6">
            <a:extLst>
              <a:ext uri="{FF2B5EF4-FFF2-40B4-BE49-F238E27FC236}">
                <a16:creationId xmlns:a16="http://schemas.microsoft.com/office/drawing/2014/main" id="{49597861-9055-181B-8A5B-C02D09CEE0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17700" y="1236193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Extended design 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" name="Google Shape;98;p6">
            <a:extLst>
              <a:ext uri="{FF2B5EF4-FFF2-40B4-BE49-F238E27FC236}">
                <a16:creationId xmlns:a16="http://schemas.microsoft.com/office/drawing/2014/main" id="{3B919FB5-3694-3341-9C73-5C2F2894A2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9269389"/>
              </p:ext>
            </p:extLst>
          </p:nvPr>
        </p:nvGraphicFramePr>
        <p:xfrm>
          <a:off x="727029" y="1870762"/>
          <a:ext cx="8705204" cy="3821952"/>
        </p:xfrm>
        <a:graphic>
          <a:graphicData uri="http://schemas.openxmlformats.org/drawingml/2006/table">
            <a:tbl>
              <a:tblPr>
                <a:noFill/>
                <a:tableStyleId>{DC6DB7BC-04C5-4DF7-9EBF-0593D65B585B}</a:tableStyleId>
              </a:tblPr>
              <a:tblGrid>
                <a:gridCol w="1539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6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Instruction</a:t>
                      </a:r>
                      <a:endParaRPr sz="1600" b="1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0" marR="0" marT="0" marB="0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Description</a:t>
                      </a:r>
                      <a:endParaRPr sz="1600" b="1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  Instruction</a:t>
                      </a:r>
                      <a:endParaRPr sz="1600" b="1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MOVI R, d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Move immediate value d to register R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0110 RRRR 000 dddd</a:t>
                      </a:r>
                      <a:endParaRPr sz="1600" b="1" dirty="0">
                        <a:solidFill>
                          <a:schemeClr val="accent4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ADD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Ra = Ra +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0000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0000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SUB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 ← Ra −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0001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0000 </a:t>
                      </a:r>
                      <a:endParaRPr lang="en-US"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NEG R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R = -R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0010 RRRR 0000 0000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 ← Ra &amp;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0100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0010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14069022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 ← Ra |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0101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0000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49124185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 Ra,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 ← Ra × Rb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0011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0101 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726145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00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C547D7A-E7A6-75F3-8077-7652E13B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>
            <a:extLst>
              <a:ext uri="{FF2B5EF4-FFF2-40B4-BE49-F238E27FC236}">
                <a16:creationId xmlns:a16="http://schemas.microsoft.com/office/drawing/2014/main" id="{2B8AD0B4-E703-3973-3572-04D11054E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700" y="24185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Set Architecture</a:t>
            </a: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97" name="Google Shape;97;p6">
            <a:extLst>
              <a:ext uri="{FF2B5EF4-FFF2-40B4-BE49-F238E27FC236}">
                <a16:creationId xmlns:a16="http://schemas.microsoft.com/office/drawing/2014/main" id="{96DB9065-2F81-685F-318C-B000A3B7247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17700" y="1554243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Extended design 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" name="Google Shape;98;p6">
            <a:extLst>
              <a:ext uri="{FF2B5EF4-FFF2-40B4-BE49-F238E27FC236}">
                <a16:creationId xmlns:a16="http://schemas.microsoft.com/office/drawing/2014/main" id="{AFBB4DCC-4596-E4A5-4488-636D588680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1728448"/>
              </p:ext>
            </p:extLst>
          </p:nvPr>
        </p:nvGraphicFramePr>
        <p:xfrm>
          <a:off x="722613" y="2248881"/>
          <a:ext cx="9144000" cy="2352966"/>
        </p:xfrm>
        <a:graphic>
          <a:graphicData uri="http://schemas.openxmlformats.org/drawingml/2006/table">
            <a:tbl>
              <a:tblPr>
                <a:noFill/>
                <a:tableStyleId>{DC6DB7BC-04C5-4DF7-9EBF-0593D65B585B}</a:tableStyleId>
              </a:tblPr>
              <a:tblGrid>
                <a:gridCol w="148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0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Instruction</a:t>
                      </a:r>
                      <a:endParaRPr sz="1600" b="1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0" marR="0" marT="0" marB="0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Description</a:t>
                      </a:r>
                      <a:endParaRPr sz="1600" b="1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 anchor="ctr">
                    <a:lnL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  Instruction</a:t>
                      </a:r>
                      <a:endParaRPr sz="1600" b="1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CMP Ra, Rb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T w="76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Compare Ra and Rb, set flags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1000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0111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1001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0111</a:t>
                      </a:r>
                      <a:endParaRPr lang="en-US"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1010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RaRaRa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RbRbRb</a:t>
                      </a: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0111</a:t>
                      </a:r>
                      <a:endParaRPr lang="en-US"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51061595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3500" lvl="0" indent="0" algn="l" rtl="0">
                        <a:lnSpc>
                          <a:spcPct val="10409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JZR R, d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Jump if R == 0 </a:t>
                      </a:r>
                      <a:endParaRPr sz="16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0111 RRR 0000 ddd</a:t>
                      </a:r>
                      <a:endParaRPr sz="1600" b="1" dirty="0">
                        <a:solidFill>
                          <a:srgbClr val="9900FF"/>
                        </a:solidFill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2526802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8131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626535" y="23571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Assembly Program and Machine Code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126" name="Google Shape;126;p7"/>
          <p:cNvSpPr txBox="1">
            <a:spLocks noGrp="1"/>
          </p:cNvSpPr>
          <p:nvPr>
            <p:ph idx="1"/>
          </p:nvPr>
        </p:nvSpPr>
        <p:spPr>
          <a:xfrm>
            <a:off x="626535" y="196628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>
              <a:lnSpc>
                <a:spcPct val="150000"/>
              </a:lnSpc>
              <a:buClr>
                <a:srgbClr val="7D9726"/>
              </a:buClr>
              <a:buSzPts val="1600"/>
              <a:buNone/>
            </a:pP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  “101110000001"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 -- </a:t>
            </a:r>
            <a:r>
              <a:rPr lang="en-GB" sz="1800" dirty="0">
                <a:solidFill>
                  <a:srgbClr val="5F9182"/>
                </a:solidFill>
                <a:latin typeface="Consolas"/>
                <a:ea typeface="Consolas"/>
                <a:cs typeface="Consolas"/>
                <a:sym typeface="Consolas"/>
              </a:rPr>
              <a:t>MOVI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GB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lang="en-GB" sz="1800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; Initialize R7 to 1</a:t>
            </a:r>
            <a:br>
              <a:rPr lang="en-GB" sz="18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“100100000010"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 -- </a:t>
            </a:r>
            <a:r>
              <a:rPr lang="en-GB" sz="1800" dirty="0">
                <a:solidFill>
                  <a:srgbClr val="5F9182"/>
                </a:solidFill>
                <a:latin typeface="Consolas"/>
                <a:ea typeface="Consolas"/>
                <a:cs typeface="Consolas"/>
                <a:sym typeface="Consolas"/>
              </a:rPr>
              <a:t>MOVI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R2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lang="en-GB" sz="1800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; Initialize R2 to 2</a:t>
            </a:r>
            <a:br>
              <a:rPr lang="en-GB" sz="18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“001110100000"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 -- </a:t>
            </a:r>
            <a:r>
              <a:rPr lang="en-GB" dirty="0">
                <a:solidFill>
                  <a:srgbClr val="5F918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-GB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7, R2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; R7 &lt;= R7 + R2</a:t>
            </a:r>
            <a:br>
              <a:rPr lang="en-GB" sz="18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“100100000011"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 -- </a:t>
            </a:r>
            <a:r>
              <a:rPr lang="en-GB" sz="1800" dirty="0">
                <a:solidFill>
                  <a:srgbClr val="5F9182"/>
                </a:solidFill>
                <a:latin typeface="Consolas"/>
                <a:ea typeface="Consolas"/>
                <a:cs typeface="Consolas"/>
                <a:sym typeface="Consolas"/>
              </a:rPr>
              <a:t>MOVI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R2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   </a:t>
            </a:r>
            <a:r>
              <a:rPr lang="en-GB" sz="1800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; I</a:t>
            </a:r>
            <a:r>
              <a:rPr lang="en-GB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nitialize R2 to 3</a:t>
            </a:r>
            <a:br>
              <a:rPr lang="en-GB" sz="18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“001110100000"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 -- </a:t>
            </a:r>
            <a:r>
              <a:rPr lang="en-GB" sz="1800" dirty="0">
                <a:solidFill>
                  <a:srgbClr val="5F918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R7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R1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GB" sz="1800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; Subtract 1 from R2 (Adding negated value)</a:t>
            </a:r>
            <a:br>
              <a:rPr lang="en-GB" sz="18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"001110100000"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 -- </a:t>
            </a:r>
            <a:r>
              <a:rPr lang="en-GB" sz="1800" dirty="0">
                <a:solidFill>
                  <a:srgbClr val="5F918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R7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R2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GB" sz="1800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; R7 &lt;= R7 + R2</a:t>
            </a:r>
            <a:br>
              <a:rPr lang="en-GB" sz="18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“110000000101"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 -- </a:t>
            </a:r>
            <a:r>
              <a:rPr lang="en-GB" sz="1800" dirty="0">
                <a:solidFill>
                  <a:srgbClr val="5F9182"/>
                </a:solidFill>
                <a:latin typeface="Consolas"/>
                <a:ea typeface="Consolas"/>
                <a:cs typeface="Consolas"/>
                <a:sym typeface="Consolas"/>
              </a:rPr>
              <a:t>JZR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R0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GB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0 </a:t>
            </a:r>
            <a:r>
              <a:rPr lang="en-GB" sz="1800" dirty="0">
                <a:solidFill>
                  <a:srgbClr val="929181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GB" sz="1800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; If R0 == 0, Jump to address 5</a:t>
            </a:r>
            <a:br>
              <a:rPr lang="en-GB" dirty="0"/>
            </a:b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</p:txBody>
      </p:sp>
      <p:sp>
        <p:nvSpPr>
          <p:cNvPr id="127" name="Google Shape;127;p7"/>
          <p:cNvSpPr txBox="1"/>
          <p:nvPr/>
        </p:nvSpPr>
        <p:spPr>
          <a:xfrm>
            <a:off x="626535" y="1611009"/>
            <a:ext cx="105156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Original Version: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d37a3bd29_0_96"/>
          <p:cNvSpPr txBox="1">
            <a:spLocks noGrp="1"/>
          </p:cNvSpPr>
          <p:nvPr>
            <p:ph type="title"/>
          </p:nvPr>
        </p:nvSpPr>
        <p:spPr>
          <a:xfrm>
            <a:off x="631614" y="23368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Assembly Program and Machine Code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133" name="Google Shape;133;g35d37a3bd29_0_96"/>
          <p:cNvSpPr txBox="1">
            <a:spLocks noGrp="1"/>
          </p:cNvSpPr>
          <p:nvPr>
            <p:ph idx="1"/>
          </p:nvPr>
        </p:nvSpPr>
        <p:spPr>
          <a:xfrm>
            <a:off x="618071" y="166789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01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>
              <a:lnSpc>
                <a:spcPct val="150000"/>
              </a:lnSpc>
              <a:buClr>
                <a:srgbClr val="7D9726"/>
              </a:buClr>
              <a:buSzPts val="1600"/>
              <a:buNone/>
            </a:pP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01101110000100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GB" sz="1800" dirty="0">
                <a:solidFill>
                  <a:srgbClr val="5F9182"/>
                </a:solidFill>
                <a:latin typeface="Consolas"/>
                <a:ea typeface="Consolas"/>
                <a:cs typeface="Consolas"/>
                <a:sym typeface="Consolas"/>
              </a:rPr>
              <a:t>MOVI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R7,4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 ; </a:t>
            </a:r>
            <a:r>
              <a:rPr lang="en-GB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Initialize R7 to 4</a:t>
            </a:r>
          </a:p>
          <a:p>
            <a:pPr marL="228600" lvl="0" indent="-228600">
              <a:lnSpc>
                <a:spcPct val="150000"/>
              </a:lnSpc>
              <a:buClr>
                <a:srgbClr val="7D9726"/>
              </a:buClr>
              <a:buSzPts val="1600"/>
              <a:buNone/>
            </a:pP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01101100000010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GB" sz="1800" dirty="0">
                <a:solidFill>
                  <a:srgbClr val="5F9182"/>
                </a:solidFill>
                <a:latin typeface="Consolas"/>
                <a:ea typeface="Consolas"/>
                <a:cs typeface="Consolas"/>
                <a:sym typeface="Consolas"/>
              </a:rPr>
              <a:t>MOVI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R6,2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 ; </a:t>
            </a:r>
            <a:r>
              <a:rPr lang="en-GB" dirty="0">
                <a:solidFill>
                  <a:srgbClr val="878573"/>
                </a:solidFill>
                <a:latin typeface="Consolas"/>
                <a:ea typeface="Consolas"/>
                <a:cs typeface="Consolas"/>
                <a:sym typeface="Consolas"/>
              </a:rPr>
              <a:t>Initialize R6 to 2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00111111100000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GB" dirty="0">
                <a:solidFill>
                  <a:srgbClr val="5F9182"/>
                </a:solidFill>
                <a:latin typeface="Consolas"/>
                <a:ea typeface="Courier New"/>
                <a:cs typeface="Courier New"/>
                <a:sym typeface="Consolas"/>
              </a:rPr>
              <a:t>MUL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R7,R6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 ; R7 ← R7 * R6 = 8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00001111100000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GB" dirty="0">
                <a:solidFill>
                  <a:srgbClr val="5F9182"/>
                </a:solidFill>
                <a:latin typeface="Consolas"/>
                <a:ea typeface="Courier New"/>
                <a:cs typeface="Courier New"/>
                <a:sym typeface="Consolas"/>
              </a:rPr>
              <a:t>ADD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R7,R6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 ; R7 ← R7 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R6 = 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10001111100000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GB" dirty="0">
                <a:solidFill>
                  <a:srgbClr val="5F9182"/>
                </a:solidFill>
                <a:latin typeface="Consolas"/>
                <a:ea typeface="Courier New"/>
                <a:cs typeface="Courier New"/>
                <a:sym typeface="Consolas"/>
              </a:rPr>
              <a:t>EQ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R7,R6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  ; 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If R7 == R6, flag set</a:t>
            </a:r>
            <a:endParaRPr sz="18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10011111100000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GB" dirty="0">
                <a:solidFill>
                  <a:srgbClr val="5F9182"/>
                </a:solidFill>
                <a:latin typeface="Consolas"/>
                <a:ea typeface="Courier New"/>
                <a:cs typeface="Courier New"/>
                <a:sym typeface="Consolas"/>
              </a:rPr>
              <a:t>GT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R7,R6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  ; </a:t>
            </a:r>
            <a:r>
              <a:rPr lang="da-DK" dirty="0">
                <a:latin typeface="Courier New"/>
                <a:ea typeface="Courier New"/>
                <a:cs typeface="Courier New"/>
                <a:sym typeface="Courier New"/>
              </a:rPr>
              <a:t>If R7 &gt; R6, flag set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10101111100000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GB" dirty="0">
                <a:solidFill>
                  <a:srgbClr val="5F9182"/>
                </a:solidFill>
                <a:latin typeface="Consolas"/>
                <a:ea typeface="Courier New"/>
                <a:cs typeface="Courier New"/>
                <a:sym typeface="Consolas"/>
              </a:rPr>
              <a:t>LT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R7,R6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  ; </a:t>
            </a:r>
            <a:r>
              <a:rPr lang="da-DK" dirty="0">
                <a:latin typeface="Courier New"/>
                <a:ea typeface="Courier New"/>
                <a:cs typeface="Courier New"/>
                <a:sym typeface="Courier New"/>
              </a:rPr>
              <a:t>If R7 &lt; R6, flag set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GB" sz="1800" dirty="0">
                <a:solidFill>
                  <a:srgbClr val="7D9726"/>
                </a:solidFill>
                <a:latin typeface="Consolas"/>
                <a:ea typeface="Consolas"/>
                <a:cs typeface="Consolas"/>
                <a:sym typeface="Consolas"/>
              </a:rPr>
              <a:t>01110000000111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": </a:t>
            </a:r>
            <a:r>
              <a:rPr lang="en-GB" dirty="0">
                <a:solidFill>
                  <a:srgbClr val="5F9182"/>
                </a:solidFill>
                <a:latin typeface="Consolas"/>
                <a:ea typeface="Courier New"/>
                <a:cs typeface="Courier New"/>
                <a:sym typeface="Consolas"/>
              </a:rPr>
              <a:t>JZR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800" dirty="0">
                <a:solidFill>
                  <a:srgbClr val="AE7313"/>
                </a:solidFill>
                <a:latin typeface="Consolas"/>
                <a:ea typeface="Consolas"/>
                <a:cs typeface="Consolas"/>
                <a:sym typeface="Consolas"/>
              </a:rPr>
              <a:t>R0, 7</a:t>
            </a:r>
            <a:r>
              <a:rPr lang="en-GB" sz="1800" dirty="0">
                <a:latin typeface="Courier New"/>
                <a:ea typeface="Courier New"/>
                <a:cs typeface="Courier New"/>
                <a:sym typeface="Courier New"/>
              </a:rPr>
              <a:t>  ; </a:t>
            </a:r>
            <a:r>
              <a:rPr lang="en-US" sz="1800" dirty="0">
                <a:latin typeface="Courier New"/>
                <a:ea typeface="Courier New"/>
                <a:cs typeface="Courier New"/>
                <a:sym typeface="Courier New"/>
              </a:rPr>
              <a:t>If R0 == 0, jump to address</a:t>
            </a: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</p:txBody>
      </p:sp>
      <p:sp>
        <p:nvSpPr>
          <p:cNvPr id="134" name="Google Shape;134;g35d37a3bd29_0_96"/>
          <p:cNvSpPr txBox="1"/>
          <p:nvPr/>
        </p:nvSpPr>
        <p:spPr>
          <a:xfrm>
            <a:off x="634451" y="1622518"/>
            <a:ext cx="105156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Extended Version: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>
            <a:spLocks noGrp="1"/>
          </p:cNvSpPr>
          <p:nvPr>
            <p:ph type="title"/>
          </p:nvPr>
        </p:nvSpPr>
        <p:spPr>
          <a:xfrm>
            <a:off x="626535" y="237744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System Overview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140" name="Google Shape;140;p4"/>
          <p:cNvSpPr txBox="1">
            <a:spLocks noGrp="1"/>
          </p:cNvSpPr>
          <p:nvPr>
            <p:ph idx="1"/>
          </p:nvPr>
        </p:nvSpPr>
        <p:spPr>
          <a:xfrm>
            <a:off x="626535" y="1380575"/>
            <a:ext cx="5528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27" b="1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Core Components:</a:t>
            </a:r>
            <a:endParaRPr sz="2427" b="1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457200" lvl="0" indent="-3827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28"/>
              <a:buFont typeface="Montserrat"/>
              <a:buChar char="•"/>
            </a:pPr>
            <a:r>
              <a:rPr lang="en-GB" sz="2427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Program ROM </a:t>
            </a:r>
            <a:endParaRPr sz="2427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457200" lvl="0" indent="-3827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28"/>
              <a:buFont typeface="Montserrat"/>
              <a:buChar char="•"/>
            </a:pPr>
            <a:r>
              <a:rPr lang="en-GB" sz="2427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Program Counter  + 3-bit Adder</a:t>
            </a:r>
            <a:endParaRPr sz="2427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457200" lvl="0" indent="-3827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28"/>
              <a:buFont typeface="Montserrat"/>
              <a:buChar char="•"/>
            </a:pPr>
            <a:r>
              <a:rPr lang="en-GB" sz="2427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Instruction Decoder</a:t>
            </a:r>
            <a:endParaRPr sz="2427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457200" lvl="0" indent="-3827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28"/>
              <a:buFont typeface="Montserrat"/>
              <a:buChar char="•"/>
            </a:pPr>
            <a:r>
              <a:rPr lang="en-GB" sz="2427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Register Bank </a:t>
            </a:r>
            <a:endParaRPr sz="2427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 marL="457200" lvl="0" indent="-3827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28"/>
              <a:buFont typeface="Montserrat"/>
              <a:buChar char="•"/>
            </a:pPr>
            <a:r>
              <a:rPr lang="en-GB" sz="2427" dirty="0"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Adder/Subtractor Unit</a:t>
            </a:r>
          </a:p>
          <a:p>
            <a:pPr marL="457200" lvl="0" indent="-3827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28"/>
              <a:buFont typeface="Montserrat"/>
              <a:buChar char="•"/>
            </a:pPr>
            <a:r>
              <a:rPr lang="en-GB" sz="2427" dirty="0">
                <a:latin typeface="Montserrat" panose="00000500000000000000" pitchFamily="2" charset="0"/>
                <a:sym typeface="Montserrat"/>
              </a:rPr>
              <a:t>7- segment Display LUT</a:t>
            </a:r>
          </a:p>
          <a:p>
            <a:pPr marL="457200" lvl="0" indent="-382746">
              <a:lnSpc>
                <a:spcPct val="90000"/>
              </a:lnSpc>
              <a:buSzPts val="2428"/>
              <a:buFont typeface="Montserrat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Multi-bit Multiplexers</a:t>
            </a:r>
            <a:endParaRPr sz="2400" dirty="0">
              <a:latin typeface="Montserrat" panose="00000500000000000000" pitchFamily="2" charset="0"/>
            </a:endParaRPr>
          </a:p>
        </p:txBody>
      </p:sp>
      <p:sp>
        <p:nvSpPr>
          <p:cNvPr id="141" name="Google Shape;141;p4"/>
          <p:cNvSpPr txBox="1">
            <a:spLocks noGrp="1"/>
          </p:cNvSpPr>
          <p:nvPr>
            <p:ph type="body" idx="4294967295"/>
          </p:nvPr>
        </p:nvSpPr>
        <p:spPr>
          <a:xfrm>
            <a:off x="5548832" y="1380437"/>
            <a:ext cx="552926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27" b="1" dirty="0">
                <a:latin typeface="Montserrat"/>
                <a:ea typeface="Montserrat"/>
                <a:cs typeface="Montserrat"/>
                <a:sym typeface="Montserrat"/>
              </a:rPr>
              <a:t>Additional Components:</a:t>
            </a:r>
            <a:endParaRPr sz="2427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827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28"/>
              <a:buFont typeface="Montserrat"/>
              <a:buChar char="•"/>
            </a:pPr>
            <a:r>
              <a:rPr lang="en-GB" sz="2427" dirty="0">
                <a:latin typeface="Montserrat"/>
                <a:ea typeface="Montserrat"/>
                <a:cs typeface="Montserrat"/>
                <a:sym typeface="Montserrat"/>
              </a:rPr>
              <a:t>Comparator</a:t>
            </a:r>
            <a:endParaRPr sz="2427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827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28"/>
              <a:buFont typeface="Montserrat"/>
              <a:buChar char="•"/>
            </a:pPr>
            <a:r>
              <a:rPr lang="en-GB" sz="2427" dirty="0">
                <a:latin typeface="Montserrat"/>
                <a:ea typeface="Montserrat"/>
                <a:cs typeface="Montserrat"/>
                <a:sym typeface="Montserrat"/>
              </a:rPr>
              <a:t>4-bit Multiplier</a:t>
            </a:r>
            <a:endParaRPr sz="2427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827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28"/>
              <a:buFont typeface="Montserrat"/>
              <a:buChar char="•"/>
            </a:pPr>
            <a:r>
              <a:rPr lang="en-GB" sz="2427" dirty="0">
                <a:latin typeface="Montserrat"/>
                <a:ea typeface="Montserrat"/>
                <a:cs typeface="Montserrat"/>
                <a:sym typeface="Montserrat"/>
              </a:rPr>
              <a:t>Bitwise Operator(AND/OR)</a:t>
            </a:r>
            <a:endParaRPr sz="2427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5000" dirty="0"/>
              <a:t> </a:t>
            </a:r>
            <a:endParaRPr sz="5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d37a3bd29_0_105"/>
          <p:cNvSpPr txBox="1">
            <a:spLocks noGrp="1"/>
          </p:cNvSpPr>
          <p:nvPr>
            <p:ph type="title"/>
          </p:nvPr>
        </p:nvSpPr>
        <p:spPr>
          <a:xfrm>
            <a:off x="627459" y="234837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Data Movement</a:t>
            </a:r>
            <a:endParaRPr dirty="0"/>
          </a:p>
        </p:txBody>
      </p:sp>
      <p:sp>
        <p:nvSpPr>
          <p:cNvPr id="148" name="Google Shape;148;g35d37a3bd29_0_105"/>
          <p:cNvSpPr txBox="1"/>
          <p:nvPr/>
        </p:nvSpPr>
        <p:spPr>
          <a:xfrm>
            <a:off x="627459" y="1387393"/>
            <a:ext cx="8385900" cy="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Bus system was defined to control data movements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30D03A-35E5-329E-DDE5-C26BC3CC6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60" y="2084565"/>
            <a:ext cx="8385900" cy="43407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d37a3bd29_0_114"/>
          <p:cNvSpPr txBox="1">
            <a:spLocks noGrp="1"/>
          </p:cNvSpPr>
          <p:nvPr>
            <p:ph type="title"/>
          </p:nvPr>
        </p:nvSpPr>
        <p:spPr>
          <a:xfrm>
            <a:off x="677334" y="23438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500" b="1" dirty="0">
                <a:latin typeface="Century Gothic" panose="020B0502020202020204" pitchFamily="34" charset="0"/>
              </a:rPr>
              <a:t>Original Design</a:t>
            </a:r>
            <a:endParaRPr sz="4500" b="1" dirty="0">
              <a:latin typeface="Century Gothic" panose="020B0502020202020204" pitchFamily="34" charset="0"/>
            </a:endParaRPr>
          </a:p>
        </p:txBody>
      </p:sp>
      <p:sp>
        <p:nvSpPr>
          <p:cNvPr id="154" name="Google Shape;154;g35d37a3bd29_0_114"/>
          <p:cNvSpPr txBox="1"/>
          <p:nvPr/>
        </p:nvSpPr>
        <p:spPr>
          <a:xfrm>
            <a:off x="638121" y="1455433"/>
            <a:ext cx="9137646" cy="46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2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Core Control:</a:t>
            </a:r>
            <a:endParaRPr sz="2127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63696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Clock: Synchronizes all operations (fetch, decode, execute).</a:t>
            </a: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636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Reset: Initializes registers and program counter to zero.</a:t>
            </a:r>
          </a:p>
          <a:p>
            <a:pPr marL="550704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</a:pP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212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Visibility:</a:t>
            </a:r>
            <a:endParaRPr sz="2127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6369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Data: Outputs the value of Register 7 (R7) for real-time monitoring.</a:t>
            </a: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636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S_7Seg &amp; Anodes: Drives the 7-segment display to show R7’s value in hexadecimal.</a:t>
            </a: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d37a3bd29_0_148"/>
          <p:cNvSpPr txBox="1"/>
          <p:nvPr/>
        </p:nvSpPr>
        <p:spPr>
          <a:xfrm>
            <a:off x="638125" y="1458075"/>
            <a:ext cx="9187519" cy="473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212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Status Flags:</a:t>
            </a:r>
            <a:endParaRPr sz="2127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6369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Overflow: Indicates arithmetic overflow </a:t>
            </a: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636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Zero : ALU result is zero </a:t>
            </a:r>
          </a:p>
          <a:p>
            <a:pPr marL="550704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</a:pP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212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 Hub:</a:t>
            </a:r>
            <a:endParaRPr sz="2127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6369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Coordinates the Program Counter, Instruction Decoder, ALU, and Register Bank.</a:t>
            </a: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636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Maps internal register states to external displays for validation.</a:t>
            </a: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53;g35d37a3bd29_0_114">
            <a:extLst>
              <a:ext uri="{FF2B5EF4-FFF2-40B4-BE49-F238E27FC236}">
                <a16:creationId xmlns:a16="http://schemas.microsoft.com/office/drawing/2014/main" id="{55084BBC-A17C-1EEA-1F67-E2C56B350707}"/>
              </a:ext>
            </a:extLst>
          </p:cNvPr>
          <p:cNvSpPr txBox="1">
            <a:spLocks/>
          </p:cNvSpPr>
          <p:nvPr/>
        </p:nvSpPr>
        <p:spPr>
          <a:xfrm>
            <a:off x="677334" y="23438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sz="4500" b="1" dirty="0">
                <a:latin typeface="Century Gothic" panose="020B0502020202020204" pitchFamily="34" charset="0"/>
              </a:rPr>
              <a:t>Original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53;g35d37a3bd29_0_114">
            <a:extLst>
              <a:ext uri="{FF2B5EF4-FFF2-40B4-BE49-F238E27FC236}">
                <a16:creationId xmlns:a16="http://schemas.microsoft.com/office/drawing/2014/main" id="{3DA08663-3D62-45E7-1DEC-287D8B49E75B}"/>
              </a:ext>
            </a:extLst>
          </p:cNvPr>
          <p:cNvSpPr txBox="1">
            <a:spLocks/>
          </p:cNvSpPr>
          <p:nvPr/>
        </p:nvSpPr>
        <p:spPr>
          <a:xfrm>
            <a:off x="677334" y="23438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sz="4500" b="1" dirty="0">
                <a:latin typeface="Century Gothic" panose="020B0502020202020204" pitchFamily="34" charset="0"/>
              </a:rPr>
              <a:t>Original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4EC95-49F9-B385-9A2C-24CB71CFA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041" y="1838103"/>
            <a:ext cx="8234831" cy="39013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d37a3bd29_0_161"/>
          <p:cNvSpPr txBox="1"/>
          <p:nvPr/>
        </p:nvSpPr>
        <p:spPr>
          <a:xfrm>
            <a:off x="638698" y="1466263"/>
            <a:ext cx="30000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2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Timing Diagram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3;g35d37a3bd29_0_114">
            <a:extLst>
              <a:ext uri="{FF2B5EF4-FFF2-40B4-BE49-F238E27FC236}">
                <a16:creationId xmlns:a16="http://schemas.microsoft.com/office/drawing/2014/main" id="{CE1B6481-C0B6-DC7F-6A82-090C4B8A690B}"/>
              </a:ext>
            </a:extLst>
          </p:cNvPr>
          <p:cNvSpPr txBox="1">
            <a:spLocks/>
          </p:cNvSpPr>
          <p:nvPr/>
        </p:nvSpPr>
        <p:spPr>
          <a:xfrm>
            <a:off x="627459" y="23438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sz="4500" b="1" dirty="0">
                <a:latin typeface="Century Gothic" panose="020B0502020202020204" pitchFamily="34" charset="0"/>
              </a:rPr>
              <a:t>Original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20FBD-0BBF-CD7C-3D45-22839110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73" y="2171028"/>
            <a:ext cx="8135389" cy="4222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d37a3bd29_0_131"/>
          <p:cNvSpPr txBox="1"/>
          <p:nvPr/>
        </p:nvSpPr>
        <p:spPr>
          <a:xfrm>
            <a:off x="627459" y="1610074"/>
            <a:ext cx="10732500" cy="3863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212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Multi-Register Monitoring:</a:t>
            </a:r>
            <a:endParaRPr sz="2127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-363696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Data_7: Outputs Register 7 (R7) for primary result display</a:t>
            </a: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-3636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Data_6: Added output for Register 6 (R6), enabling side-by-side operation observation</a:t>
            </a:r>
          </a:p>
          <a:p>
            <a:pPr marL="550704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</a:pP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212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Status Flags:</a:t>
            </a:r>
            <a:endParaRPr sz="2127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-363696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Comparison Flags: Equal, </a:t>
            </a:r>
            <a:r>
              <a:rPr lang="en-GB" sz="2127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LessThan</a:t>
            </a: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GB" sz="2127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GreaterThan</a:t>
            </a: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for conditional logic</a:t>
            </a:r>
            <a:endParaRPr sz="2127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0" indent="-3636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8"/>
              <a:buFont typeface="Montserrat"/>
              <a:buChar char="●"/>
            </a:pPr>
            <a:r>
              <a:rPr lang="en-GB" sz="212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Backward Compatibility: Retains original Zero and Overflow flags</a:t>
            </a:r>
            <a:endParaRPr sz="1200" dirty="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Google Shape;153;g35d37a3bd29_0_114">
            <a:extLst>
              <a:ext uri="{FF2B5EF4-FFF2-40B4-BE49-F238E27FC236}">
                <a16:creationId xmlns:a16="http://schemas.microsoft.com/office/drawing/2014/main" id="{93C5E751-223E-C365-8381-1E516CDBE1A0}"/>
              </a:ext>
            </a:extLst>
          </p:cNvPr>
          <p:cNvSpPr txBox="1">
            <a:spLocks/>
          </p:cNvSpPr>
          <p:nvPr/>
        </p:nvSpPr>
        <p:spPr>
          <a:xfrm>
            <a:off x="627459" y="23438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sz="4500" b="1" dirty="0">
                <a:latin typeface="Century Gothic" panose="020B0502020202020204" pitchFamily="34" charset="0"/>
              </a:rPr>
              <a:t>Extended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17569-6428-F815-24B8-AED4848B3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47" y="1930400"/>
            <a:ext cx="8601550" cy="3705629"/>
          </a:xfrm>
          <a:prstGeom prst="rect">
            <a:avLst/>
          </a:prstGeom>
        </p:spPr>
      </p:pic>
      <p:sp>
        <p:nvSpPr>
          <p:cNvPr id="5" name="Google Shape;153;g35d37a3bd29_0_114">
            <a:extLst>
              <a:ext uri="{FF2B5EF4-FFF2-40B4-BE49-F238E27FC236}">
                <a16:creationId xmlns:a16="http://schemas.microsoft.com/office/drawing/2014/main" id="{71AF035C-EF70-C099-C5D8-ED0C442C00C5}"/>
              </a:ext>
            </a:extLst>
          </p:cNvPr>
          <p:cNvSpPr txBox="1">
            <a:spLocks/>
          </p:cNvSpPr>
          <p:nvPr/>
        </p:nvSpPr>
        <p:spPr>
          <a:xfrm>
            <a:off x="627459" y="23438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sz="4500" b="1" dirty="0">
                <a:latin typeface="Century Gothic" panose="020B0502020202020204" pitchFamily="34" charset="0"/>
              </a:rPr>
              <a:t>Extended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2;g35d37a3bd29_0_161">
            <a:extLst>
              <a:ext uri="{FF2B5EF4-FFF2-40B4-BE49-F238E27FC236}">
                <a16:creationId xmlns:a16="http://schemas.microsoft.com/office/drawing/2014/main" id="{838138F7-E82C-D930-DE66-0AB278653BCA}"/>
              </a:ext>
            </a:extLst>
          </p:cNvPr>
          <p:cNvSpPr txBox="1"/>
          <p:nvPr/>
        </p:nvSpPr>
        <p:spPr>
          <a:xfrm>
            <a:off x="638698" y="1466263"/>
            <a:ext cx="30000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2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Timing Diagram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3;g35d37a3bd29_0_114">
            <a:extLst>
              <a:ext uri="{FF2B5EF4-FFF2-40B4-BE49-F238E27FC236}">
                <a16:creationId xmlns:a16="http://schemas.microsoft.com/office/drawing/2014/main" id="{6DD99BA9-0B5A-13A4-C7A3-5C7244A25839}"/>
              </a:ext>
            </a:extLst>
          </p:cNvPr>
          <p:cNvSpPr txBox="1">
            <a:spLocks/>
          </p:cNvSpPr>
          <p:nvPr/>
        </p:nvSpPr>
        <p:spPr>
          <a:xfrm>
            <a:off x="627459" y="23438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4400"/>
              <a:buFont typeface="Calibri"/>
              <a:buNone/>
            </a:pPr>
            <a:r>
              <a:rPr lang="en-US" sz="4500" b="1" dirty="0">
                <a:latin typeface="Century Gothic" panose="020B0502020202020204" pitchFamily="34" charset="0"/>
              </a:rPr>
              <a:t>Original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F5F751-22FF-8034-7292-540DCE863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98" y="2083501"/>
            <a:ext cx="8596669" cy="45401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>
            <a:spLocks noGrp="1"/>
          </p:cNvSpPr>
          <p:nvPr>
            <p:ph type="title"/>
          </p:nvPr>
        </p:nvSpPr>
        <p:spPr>
          <a:xfrm>
            <a:off x="627460" y="2534611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 sz="60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Core Components</a:t>
            </a:r>
            <a:endParaRPr sz="7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>
            <a:spLocks noGrp="1"/>
          </p:cNvSpPr>
          <p:nvPr>
            <p:ph type="title"/>
          </p:nvPr>
        </p:nvSpPr>
        <p:spPr>
          <a:xfrm>
            <a:off x="638697" y="24015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Program ROM</a:t>
            </a:r>
            <a:r>
              <a:rPr lang="en-GB" dirty="0"/>
              <a:t> </a:t>
            </a:r>
            <a:endParaRPr dirty="0"/>
          </a:p>
        </p:txBody>
      </p:sp>
      <p:sp>
        <p:nvSpPr>
          <p:cNvPr id="203" name="Google Shape;203;p9"/>
          <p:cNvSpPr txBox="1">
            <a:spLocks noGrp="1"/>
          </p:cNvSpPr>
          <p:nvPr>
            <p:ph idx="1"/>
          </p:nvPr>
        </p:nvSpPr>
        <p:spPr>
          <a:xfrm>
            <a:off x="635646" y="1466107"/>
            <a:ext cx="11318055" cy="515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Montserrat"/>
                <a:ea typeface="Montserrat"/>
                <a:cs typeface="Montserrat"/>
                <a:sym typeface="Montserrat"/>
              </a:rPr>
              <a:t>Key Features: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349250" lvl="0" indent="-3492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328"/>
              <a:buFont typeface="Montserrat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8-location ROM with 12-bit instructions</a:t>
            </a:r>
          </a:p>
          <a:p>
            <a:pPr marL="349250" lvl="0" indent="-3492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328"/>
              <a:buFont typeface="Montserrat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Stores hardcoded assembly program</a:t>
            </a:r>
          </a:p>
          <a:p>
            <a:pPr marL="349250" lvl="0" indent="-3492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328"/>
              <a:buFont typeface="Montserrat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Addressed using 3-bit Program Counter output</a:t>
            </a:r>
          </a:p>
          <a:p>
            <a:pPr marL="349250" lvl="0" indent="-3492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328"/>
              <a:buFont typeface="Montserrat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Outputs one 12-bit instruction each cycle</a:t>
            </a:r>
          </a:p>
          <a:p>
            <a:pPr marL="349250" lvl="0" indent="-34925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2328"/>
              <a:buFont typeface="Montserrat"/>
              <a:buChar char="•"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Montserrat"/>
                <a:ea typeface="Montserrat"/>
                <a:cs typeface="Montserrat"/>
                <a:sym typeface="Montserrat"/>
              </a:rPr>
              <a:t>Role in Pipeline: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Performs instruction fetch operation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Receives address from the Program Counter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Sends instruction to the Instruction Decoder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Provides instructions sequentially each clock cycle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2;p9">
            <a:extLst>
              <a:ext uri="{FF2B5EF4-FFF2-40B4-BE49-F238E27FC236}">
                <a16:creationId xmlns:a16="http://schemas.microsoft.com/office/drawing/2014/main" id="{F57B6565-AAE4-FBA2-1F16-108656DC11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697" y="24015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Program ROM</a:t>
            </a:r>
            <a:r>
              <a:rPr lang="en-GB" dirty="0"/>
              <a:t>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D3DEAA-F589-479C-B961-EF2B4FC61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703" y="1406259"/>
            <a:ext cx="6695940" cy="51138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d37a3bd29_0_192"/>
          <p:cNvSpPr txBox="1">
            <a:spLocks noGrp="1"/>
          </p:cNvSpPr>
          <p:nvPr>
            <p:ph type="title"/>
          </p:nvPr>
        </p:nvSpPr>
        <p:spPr>
          <a:xfrm>
            <a:off x="638697" y="231287"/>
            <a:ext cx="8671558" cy="199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Program Counter &amp; Address Control Logic</a:t>
            </a:r>
            <a:endParaRPr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g35d37a3bd29_0_192"/>
          <p:cNvSpPr txBox="1">
            <a:spLocks noGrp="1"/>
          </p:cNvSpPr>
          <p:nvPr>
            <p:ph idx="1"/>
          </p:nvPr>
        </p:nvSpPr>
        <p:spPr>
          <a:xfrm>
            <a:off x="638698" y="167729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27" b="1" dirty="0">
                <a:latin typeface="Montserrat"/>
                <a:ea typeface="Montserrat"/>
                <a:cs typeface="Montserrat"/>
                <a:sym typeface="Montserrat"/>
              </a:rPr>
              <a:t>3-bit Program Counter (PC):</a:t>
            </a:r>
            <a:endParaRPr sz="2327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6396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2328"/>
              <a:buFont typeface="Montserrat"/>
              <a:buChar char="•"/>
            </a:pPr>
            <a:r>
              <a:rPr lang="en-GB" sz="2327" dirty="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Function: Store the address of next instruction (0-7).</a:t>
            </a:r>
            <a:endParaRPr sz="2327" dirty="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63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8"/>
              <a:buFont typeface="Montserrat"/>
              <a:buChar char="•"/>
            </a:pPr>
            <a:r>
              <a:rPr lang="en-GB" sz="2327" dirty="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Update: On slow clock edge, loads </a:t>
            </a:r>
            <a:r>
              <a:rPr lang="en-GB" sz="2327" dirty="0" err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PC</a:t>
            </a:r>
            <a:r>
              <a:rPr lang="en-GB" sz="2327" dirty="0" err="1">
                <a:latin typeface="Montserrat"/>
                <a:ea typeface="Montserrat"/>
                <a:cs typeface="Montserrat"/>
                <a:sym typeface="Montserrat"/>
              </a:rPr>
              <a:t>_Next</a:t>
            </a:r>
            <a:r>
              <a:rPr lang="en-GB" sz="2327" dirty="0">
                <a:latin typeface="Montserrat"/>
                <a:ea typeface="Montserrat"/>
                <a:cs typeface="Montserrat"/>
                <a:sym typeface="Montserrat"/>
              </a:rPr>
              <a:t> (from Mux).</a:t>
            </a:r>
            <a:endParaRPr sz="2327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63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8"/>
              <a:buFont typeface="Montserrat"/>
              <a:buChar char="•"/>
            </a:pPr>
            <a:r>
              <a:rPr lang="en-GB" sz="2327" dirty="0">
                <a:latin typeface="Montserrat"/>
                <a:ea typeface="Montserrat"/>
                <a:cs typeface="Montserrat"/>
                <a:sym typeface="Montserrat"/>
              </a:rPr>
              <a:t>Reset: Initializes to 000 on system reset.</a:t>
            </a:r>
            <a:endParaRPr sz="2327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endParaRPr sz="2327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2327" b="1" dirty="0">
                <a:latin typeface="Montserrat"/>
                <a:ea typeface="Montserrat"/>
                <a:cs typeface="Montserrat"/>
                <a:sym typeface="Montserrat"/>
              </a:rPr>
              <a:t>3-bit Adder (</a:t>
            </a:r>
            <a:r>
              <a:rPr lang="en-GB" sz="2327" b="1" dirty="0" err="1">
                <a:latin typeface="Montserrat"/>
                <a:ea typeface="Montserrat"/>
                <a:cs typeface="Montserrat"/>
                <a:sym typeface="Montserrat"/>
              </a:rPr>
              <a:t>PC_Adder</a:t>
            </a:r>
            <a:r>
              <a:rPr lang="en-GB" sz="2327" b="1" dirty="0">
                <a:latin typeface="Montserrat"/>
                <a:ea typeface="Montserrat"/>
                <a:cs typeface="Montserrat"/>
                <a:sym typeface="Montserrat"/>
              </a:rPr>
              <a:t>):</a:t>
            </a:r>
            <a:endParaRPr sz="2327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6396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328"/>
              <a:buFont typeface="Montserrat"/>
              <a:buChar char="•"/>
            </a:pPr>
            <a:r>
              <a:rPr lang="en-GB" sz="2327" dirty="0">
                <a:latin typeface="Montserrat"/>
                <a:ea typeface="Montserrat"/>
                <a:cs typeface="Montserrat"/>
                <a:sym typeface="Montserrat"/>
              </a:rPr>
              <a:t>Role: </a:t>
            </a:r>
            <a:r>
              <a:rPr lang="en-GB" sz="2327" dirty="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Calculates</a:t>
            </a:r>
            <a:r>
              <a:rPr lang="en-GB" sz="2327" dirty="0">
                <a:latin typeface="Montserrat"/>
                <a:ea typeface="Montserrat"/>
                <a:cs typeface="Montserrat"/>
                <a:sym typeface="Montserrat"/>
              </a:rPr>
              <a:t> sequential address (</a:t>
            </a:r>
            <a:r>
              <a:rPr lang="en-GB" sz="2327" dirty="0" err="1">
                <a:latin typeface="Montserrat"/>
                <a:ea typeface="Montserrat"/>
                <a:cs typeface="Montserrat"/>
                <a:sym typeface="Montserrat"/>
              </a:rPr>
              <a:t>PC_Current</a:t>
            </a:r>
            <a:r>
              <a:rPr lang="en-GB" sz="2327" dirty="0">
                <a:latin typeface="Montserrat"/>
                <a:ea typeface="Montserrat"/>
                <a:cs typeface="Montserrat"/>
                <a:sym typeface="Montserrat"/>
              </a:rPr>
              <a:t> + 1).</a:t>
            </a:r>
            <a:endParaRPr sz="2327"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63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8"/>
              <a:buFont typeface="Montserrat"/>
              <a:buChar char="•"/>
            </a:pPr>
            <a:r>
              <a:rPr lang="en-GB" sz="2327" dirty="0">
                <a:latin typeface="Montserrat"/>
                <a:ea typeface="Montserrat"/>
                <a:cs typeface="Montserrat"/>
                <a:sym typeface="Montserrat"/>
              </a:rPr>
              <a:t>Example: 010 → 011 (next instruction).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>
            <a:spLocks noGrp="1"/>
          </p:cNvSpPr>
          <p:nvPr>
            <p:ph idx="1"/>
          </p:nvPr>
        </p:nvSpPr>
        <p:spPr>
          <a:xfrm>
            <a:off x="638697" y="1774773"/>
            <a:ext cx="9253448" cy="452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404040"/>
                </a:solidFill>
                <a:latin typeface="Montserrat" panose="00000500000000000000" pitchFamily="2" charset="0"/>
              </a:rPr>
              <a:t>Address_Selector</a:t>
            </a:r>
            <a:endParaRPr lang="en-US" sz="2800" b="1" dirty="0">
              <a:solidFill>
                <a:srgbClr val="404040"/>
              </a:solidFill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404040"/>
                </a:solidFill>
                <a:latin typeface="Montserrat" panose="00000500000000000000" pitchFamily="2" charset="0"/>
              </a:rPr>
              <a:t>Inputs: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404040"/>
                </a:solidFill>
                <a:latin typeface="Montserrat" panose="00000500000000000000" pitchFamily="2" charset="0"/>
              </a:rPr>
              <a:t>Sequential address (PC + 1)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404040"/>
                </a:solidFill>
                <a:latin typeface="Montserrat" panose="00000500000000000000" pitchFamily="2" charset="0"/>
              </a:rPr>
              <a:t>Jump address (from Instruction Decoder)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404040"/>
                </a:solidFill>
                <a:latin typeface="Montserrat" panose="00000500000000000000" pitchFamily="2" charset="0"/>
              </a:rPr>
              <a:t>Control: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dirty="0" err="1">
                <a:solidFill>
                  <a:srgbClr val="404040"/>
                </a:solidFill>
                <a:latin typeface="Montserrat" panose="00000500000000000000" pitchFamily="2" charset="0"/>
              </a:rPr>
              <a:t>Jump_Enable</a:t>
            </a:r>
            <a:r>
              <a:rPr lang="en-US" sz="2500" dirty="0">
                <a:solidFill>
                  <a:srgbClr val="404040"/>
                </a:solidFill>
                <a:latin typeface="Montserrat" panose="00000500000000000000" pitchFamily="2" charset="0"/>
              </a:rPr>
              <a:t> signal selects between sequential execution and jump operation.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404040"/>
                </a:solidFill>
                <a:latin typeface="Montserrat" panose="00000500000000000000" pitchFamily="2" charset="0"/>
              </a:rPr>
              <a:t>Output: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404040"/>
                </a:solidFill>
                <a:latin typeface="Montserrat" panose="00000500000000000000" pitchFamily="2" charset="0"/>
              </a:rPr>
              <a:t>Sends the selected address to the Program Counter (</a:t>
            </a:r>
            <a:r>
              <a:rPr lang="en-US" sz="2500" dirty="0" err="1">
                <a:solidFill>
                  <a:srgbClr val="404040"/>
                </a:solidFill>
                <a:latin typeface="Montserrat" panose="00000500000000000000" pitchFamily="2" charset="0"/>
              </a:rPr>
              <a:t>PC_Next</a:t>
            </a:r>
            <a:r>
              <a:rPr lang="en-US" sz="2500" dirty="0">
                <a:solidFill>
                  <a:srgbClr val="404040"/>
                </a:solidFill>
                <a:latin typeface="Montserrat" panose="00000500000000000000" pitchFamily="2" charset="0"/>
              </a:rPr>
              <a:t>).</a:t>
            </a:r>
          </a:p>
        </p:txBody>
      </p:sp>
      <p:sp>
        <p:nvSpPr>
          <p:cNvPr id="4" name="Google Shape;214;g35d37a3bd29_0_192">
            <a:extLst>
              <a:ext uri="{FF2B5EF4-FFF2-40B4-BE49-F238E27FC236}">
                <a16:creationId xmlns:a16="http://schemas.microsoft.com/office/drawing/2014/main" id="{FC011567-9E12-2B7D-6F92-55B5CBB22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697" y="231287"/>
            <a:ext cx="8671558" cy="2162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Program Counter &amp; Address Control Logic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lang="en-US"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14;g35d37a3bd29_0_192">
            <a:extLst>
              <a:ext uri="{FF2B5EF4-FFF2-40B4-BE49-F238E27FC236}">
                <a16:creationId xmlns:a16="http://schemas.microsoft.com/office/drawing/2014/main" id="{2BDA99ED-1713-BE7B-35A5-4104BE46A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697" y="231287"/>
            <a:ext cx="8671558" cy="199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Program Counter &amp; Address Control Logic</a:t>
            </a:r>
            <a:endParaRPr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F98DF1-8D2B-1772-5C9C-88AE49769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80" y="1744810"/>
            <a:ext cx="4151502" cy="4273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5C4383-57A8-65F5-D8D6-869485E25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522" y="1744810"/>
            <a:ext cx="4086795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faeff9449_2_0"/>
          <p:cNvSpPr txBox="1">
            <a:spLocks noGrp="1"/>
          </p:cNvSpPr>
          <p:nvPr>
            <p:ph type="title"/>
          </p:nvPr>
        </p:nvSpPr>
        <p:spPr>
          <a:xfrm>
            <a:off x="629857" y="24143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Slow Clock</a:t>
            </a: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33" name="Google Shape;233;g35faeff9449_2_0"/>
          <p:cNvSpPr txBox="1">
            <a:spLocks noGrp="1"/>
          </p:cNvSpPr>
          <p:nvPr>
            <p:ph idx="1"/>
          </p:nvPr>
        </p:nvSpPr>
        <p:spPr>
          <a:xfrm>
            <a:off x="629857" y="1617009"/>
            <a:ext cx="10987500" cy="47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Converts the high-frequency system clock into a slower clock signal (50 MHz → 0.5 Hz).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Allows easier debugging and LED observation.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On each rising edge of the input clock, the counter increments (</a:t>
            </a:r>
            <a:r>
              <a:rPr lang="en-US" dirty="0">
                <a:latin typeface="Montserrat" panose="00000500000000000000" pitchFamily="2" charset="0"/>
              </a:rPr>
              <a:t>count = count + 1</a:t>
            </a:r>
            <a:r>
              <a:rPr lang="en-US" sz="2400" dirty="0">
                <a:latin typeface="Montserrat" panose="00000500000000000000" pitchFamily="2" charset="0"/>
              </a:rPr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Provides clock signals to the Program Counter and Register Bank.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Synchronizes operations of the Instruction Decoder and ALU.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08DCA6-E8B6-C344-F971-2BCEFC3E2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276" y="241434"/>
            <a:ext cx="3877216" cy="6468378"/>
          </a:xfrm>
          <a:prstGeom prst="rect">
            <a:avLst/>
          </a:prstGeom>
        </p:spPr>
      </p:pic>
      <p:sp>
        <p:nvSpPr>
          <p:cNvPr id="6" name="Google Shape;232;g35faeff9449_2_0">
            <a:extLst>
              <a:ext uri="{FF2B5EF4-FFF2-40B4-BE49-F238E27FC236}">
                <a16:creationId xmlns:a16="http://schemas.microsoft.com/office/drawing/2014/main" id="{BD9D9F9D-57E3-B91A-A360-F94187CBB4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857" y="241434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Slow Clock</a:t>
            </a: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d37a3bd29_0_224"/>
          <p:cNvSpPr txBox="1">
            <a:spLocks noGrp="1"/>
          </p:cNvSpPr>
          <p:nvPr>
            <p:ph type="title"/>
          </p:nvPr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(Original)</a:t>
            </a:r>
            <a:endParaRPr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g35d37a3bd29_0_224"/>
          <p:cNvSpPr txBox="1">
            <a:spLocks noGrp="1"/>
          </p:cNvSpPr>
          <p:nvPr>
            <p:ph idx="1"/>
          </p:nvPr>
        </p:nvSpPr>
        <p:spPr>
          <a:xfrm>
            <a:off x="626100" y="1159125"/>
            <a:ext cx="10758180" cy="5322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Opcode Extraction:</a:t>
            </a:r>
          </a:p>
          <a:p>
            <a:pPr marL="625475" lvl="0" indent="-1682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Bits 11–10 are extracted as the opcode to identify the instruction type (MOVI, ADD, NEG, JZR).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Register Control Signals:</a:t>
            </a:r>
          </a:p>
          <a:p>
            <a:pPr marL="625475" lvl="0" indent="-1682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Generates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Register_Enable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Register_Select_A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Register_Select_B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to select source/destination registers and control register write operations.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ALU Control:</a:t>
            </a:r>
          </a:p>
          <a:p>
            <a:pPr marL="625475" lvl="0" indent="-1682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Generates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Operation_Select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to choose the ALU operation ('0' = ADD, '1' = SUB for NEG instruction).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Immediate Value Handling:</a:t>
            </a:r>
          </a:p>
          <a:p>
            <a:pPr marL="625475" lvl="0" indent="-1682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Extracts the lower 4 bits (Instruction(3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downto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0)) as the immediate constant for the MOVI instruction.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Jump Logic (JZR):</a:t>
            </a:r>
          </a:p>
          <a:p>
            <a:pPr marL="625475" lvl="0" indent="-16827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Checks whether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Register_Value_For_Jump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is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zero.If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zero,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Jump_Enable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is activated and the jump target address is taken from Instruction(2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downto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0).</a:t>
            </a:r>
            <a:endParaRPr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F57858-32BA-10FD-24AB-DF28602D9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017957"/>
            <a:ext cx="7040492" cy="5600956"/>
          </a:xfrm>
          <a:prstGeom prst="rect">
            <a:avLst/>
          </a:prstGeom>
        </p:spPr>
      </p:pic>
      <p:sp>
        <p:nvSpPr>
          <p:cNvPr id="9" name="Google Shape;244;g35d37a3bd29_0_224">
            <a:extLst>
              <a:ext uri="{FF2B5EF4-FFF2-40B4-BE49-F238E27FC236}">
                <a16:creationId xmlns:a16="http://schemas.microsoft.com/office/drawing/2014/main" id="{AE1C7032-AFD3-5EA4-B0C1-6407B1F9BF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(Original)</a:t>
            </a:r>
            <a:endParaRPr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d37a3bd29_0_236"/>
          <p:cNvSpPr txBox="1">
            <a:spLocks noGrp="1"/>
          </p:cNvSpPr>
          <p:nvPr>
            <p:ph idx="1"/>
          </p:nvPr>
        </p:nvSpPr>
        <p:spPr>
          <a:xfrm>
            <a:off x="626100" y="1265805"/>
            <a:ext cx="10515600" cy="5353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Opcode Extraction: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Bits 13–10 are extracted as the 4-bit main opcode to determine the instruction type (ADD, SUB, NEG, MUL, AND, OR, MOVI, JZR, EQ, GT, LT).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ALU Operation Selection: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The extracted 4-bit opcode is passed directly to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ALU_Op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to control the ALU operation (ADD, SUB, NEG, MUL, AND, OR, comparison operations, etc.).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Register Control Signals: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Generates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Register_Enable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Register_Select_A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Register_Select_B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for selecting source and destination registers during ALU execution.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Immediate Value Handling: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Bits 3–0 are extracted as a 4-bit immediate constant for the MOVI instruction when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Load_Select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= '0’.</a:t>
            </a:r>
          </a:p>
          <a:p>
            <a:pPr marL="423704"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b="1" dirty="0">
                <a:latin typeface="Montserrat"/>
                <a:ea typeface="Montserrat"/>
                <a:cs typeface="Montserrat"/>
                <a:sym typeface="Montserrat"/>
              </a:rPr>
              <a:t>Jump Logic (JZR):</a:t>
            </a:r>
          </a:p>
          <a:p>
            <a:pPr marL="625475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28"/>
              <a:buFont typeface="Arial" panose="020B0604020202020204" pitchFamily="34" charset="0"/>
              <a:buChar char="•"/>
            </a:pP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Checks whether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Register_Value_For_Jump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= "0000".If true, </a:t>
            </a:r>
            <a:r>
              <a:rPr lang="en-US" sz="2327" dirty="0" err="1">
                <a:latin typeface="Montserrat"/>
                <a:ea typeface="Montserrat"/>
                <a:cs typeface="Montserrat"/>
                <a:sym typeface="Montserrat"/>
              </a:rPr>
              <a:t>Jump_Enable</a:t>
            </a:r>
            <a:r>
              <a:rPr lang="en-US" sz="2327" dirty="0">
                <a:latin typeface="Montserrat"/>
                <a:ea typeface="Montserrat"/>
                <a:cs typeface="Montserrat"/>
                <a:sym typeface="Montserrat"/>
              </a:rPr>
              <a:t> is activated and the jump target address is loaded from bits 2–0.</a:t>
            </a:r>
            <a:endParaRPr sz="232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44;g35d37a3bd29_0_224">
            <a:extLst>
              <a:ext uri="{FF2B5EF4-FFF2-40B4-BE49-F238E27FC236}">
                <a16:creationId xmlns:a16="http://schemas.microsoft.com/office/drawing/2014/main" id="{9F8866EB-809E-5432-DAF8-8216311638C2}"/>
              </a:ext>
            </a:extLst>
          </p:cNvPr>
          <p:cNvSpPr txBox="1">
            <a:spLocks/>
          </p:cNvSpPr>
          <p:nvPr/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(Extended)</a:t>
            </a:r>
            <a:endParaRPr lang="en-GB"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endParaRPr lang="en-GB"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4;g35d37a3bd29_0_224">
            <a:extLst>
              <a:ext uri="{FF2B5EF4-FFF2-40B4-BE49-F238E27FC236}">
                <a16:creationId xmlns:a16="http://schemas.microsoft.com/office/drawing/2014/main" id="{6A5E3A5D-B8DE-8603-2B90-17DEEF575D0E}"/>
              </a:ext>
            </a:extLst>
          </p:cNvPr>
          <p:cNvSpPr txBox="1">
            <a:spLocks/>
          </p:cNvSpPr>
          <p:nvPr/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(Extended)</a:t>
            </a:r>
            <a:endParaRPr lang="en-GB"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endParaRPr lang="en-GB"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FB629B-DFE2-B474-B155-42A40EF65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90" y="1005010"/>
            <a:ext cx="7277969" cy="570534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>
          <a:extLst>
            <a:ext uri="{FF2B5EF4-FFF2-40B4-BE49-F238E27FC236}">
              <a16:creationId xmlns:a16="http://schemas.microsoft.com/office/drawing/2014/main" id="{6BE5B15B-A43E-D8BA-933A-995A59EA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4;g35d37a3bd29_0_224">
            <a:extLst>
              <a:ext uri="{FF2B5EF4-FFF2-40B4-BE49-F238E27FC236}">
                <a16:creationId xmlns:a16="http://schemas.microsoft.com/office/drawing/2014/main" id="{C8D102F6-C6F4-8D8D-2018-55E5EFCA0071}"/>
              </a:ext>
            </a:extLst>
          </p:cNvPr>
          <p:cNvSpPr txBox="1">
            <a:spLocks/>
          </p:cNvSpPr>
          <p:nvPr/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(Extended)</a:t>
            </a:r>
            <a:endParaRPr lang="en-GB"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endParaRPr lang="en-GB"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326775-E069-B419-FE08-9FB476D13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31" y="1008617"/>
            <a:ext cx="5968223" cy="561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597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>
          <a:extLst>
            <a:ext uri="{FF2B5EF4-FFF2-40B4-BE49-F238E27FC236}">
              <a16:creationId xmlns:a16="http://schemas.microsoft.com/office/drawing/2014/main" id="{84E5E2A9-F71C-F1AD-C2AA-ABE2591CE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4;g35d37a3bd29_0_224">
            <a:extLst>
              <a:ext uri="{FF2B5EF4-FFF2-40B4-BE49-F238E27FC236}">
                <a16:creationId xmlns:a16="http://schemas.microsoft.com/office/drawing/2014/main" id="{A3107720-2644-28C2-E9A8-AA7FC9191479}"/>
              </a:ext>
            </a:extLst>
          </p:cNvPr>
          <p:cNvSpPr txBox="1">
            <a:spLocks/>
          </p:cNvSpPr>
          <p:nvPr/>
        </p:nvSpPr>
        <p:spPr>
          <a:xfrm>
            <a:off x="626100" y="239087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Instruction Decoder (Extended)</a:t>
            </a:r>
            <a:endParaRPr lang="en-GB"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97777"/>
              <a:buFont typeface="Calibri"/>
              <a:buNone/>
            </a:pPr>
            <a:endParaRPr lang="en-GB"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38CC4D-CC4C-0757-425D-CD689F75F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58" y="1155047"/>
            <a:ext cx="7074641" cy="533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0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faeff9449_3_21"/>
          <p:cNvSpPr txBox="1">
            <a:spLocks noGrp="1"/>
          </p:cNvSpPr>
          <p:nvPr>
            <p:ph type="title"/>
          </p:nvPr>
        </p:nvSpPr>
        <p:spPr>
          <a:xfrm>
            <a:off x="631614" y="239825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Load Selector</a:t>
            </a:r>
            <a:endParaRPr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g35faeff9449_3_21"/>
          <p:cNvSpPr txBox="1">
            <a:spLocks noGrp="1"/>
          </p:cNvSpPr>
          <p:nvPr>
            <p:ph idx="1"/>
          </p:nvPr>
        </p:nvSpPr>
        <p:spPr>
          <a:xfrm>
            <a:off x="620587" y="1006479"/>
            <a:ext cx="9254934" cy="5685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66688" marR="0" lvl="0" indent="-166688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Purpose:</a:t>
            </a:r>
          </a:p>
          <a:p>
            <a:pPr marL="681038" marR="0" lvl="0" indent="-2159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Selects the data source that will be written into the register bank.</a:t>
            </a:r>
          </a:p>
          <a:p>
            <a:pPr marL="681038" marR="0" lvl="0" indent="-2159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It chooses between the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Immediate_Value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(used in MOVI instructions) and the computed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Register_Value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/ALU result.</a:t>
            </a:r>
          </a:p>
          <a:p>
            <a:pPr marL="166688" marR="0" lvl="0" indent="-166688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Control Logic:</a:t>
            </a:r>
          </a:p>
          <a:p>
            <a:pPr marL="681038" marR="0" lvl="0" indent="-2159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Uses a 2-way 4-bit multiplexer (MUX_2W_4B) controlled by the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lSlt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Load_Select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) signal generated by the instruction decoder.</a:t>
            </a:r>
          </a:p>
          <a:p>
            <a:pPr marL="166688" marR="0" lvl="0" indent="-166688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Selection Operation:</a:t>
            </a:r>
          </a:p>
          <a:p>
            <a:pPr marL="681038" marR="0" lvl="0" indent="-2159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lSlt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= '0' → Output receives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immediateValue</a:t>
            </a:r>
            <a:endParaRPr lang="en-US"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1038" marR="0" lvl="0" indent="-2159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lSlt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 = '1' → Output receives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registerValue</a:t>
            </a:r>
            <a:endParaRPr lang="en-US" dirty="0">
              <a:latin typeface="Montserrat"/>
              <a:ea typeface="Montserrat"/>
              <a:cs typeface="Montserrat"/>
              <a:sym typeface="Montserrat"/>
            </a:endParaRPr>
          </a:p>
          <a:p>
            <a:pPr marL="166688" marR="0" lvl="0" indent="-166688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Montserrat"/>
                <a:ea typeface="Montserrat"/>
                <a:cs typeface="Montserrat"/>
                <a:sym typeface="Montserrat"/>
              </a:rPr>
              <a:t>Output Handling:</a:t>
            </a:r>
          </a:p>
          <a:p>
            <a:pPr marL="681038" marR="0" lvl="0" indent="-2159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The selected 4-bit value is sent to </a:t>
            </a:r>
            <a:r>
              <a:rPr lang="en-US" dirty="0" err="1">
                <a:latin typeface="Montserrat"/>
                <a:ea typeface="Montserrat"/>
                <a:cs typeface="Montserrat"/>
                <a:sym typeface="Montserrat"/>
              </a:rPr>
              <a:t>outValue</a:t>
            </a:r>
            <a:r>
              <a:rPr lang="en-US" dirty="0">
                <a:latin typeface="Montserrat"/>
                <a:ea typeface="Montserrat"/>
                <a:cs typeface="Montserrat"/>
                <a:sym typeface="Montserrat"/>
              </a:rPr>
              <a:t>, which is connected to the register write-data path.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>
          <a:extLst>
            <a:ext uri="{FF2B5EF4-FFF2-40B4-BE49-F238E27FC236}">
              <a16:creationId xmlns:a16="http://schemas.microsoft.com/office/drawing/2014/main" id="{4BE8A558-8F82-536A-D553-0296E581A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faeff9449_3_21">
            <a:extLst>
              <a:ext uri="{FF2B5EF4-FFF2-40B4-BE49-F238E27FC236}">
                <a16:creationId xmlns:a16="http://schemas.microsoft.com/office/drawing/2014/main" id="{8D800B18-85D5-1E14-0294-9E6F7BA1F9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614" y="239825"/>
            <a:ext cx="10939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Load Selector</a:t>
            </a:r>
            <a:endParaRPr sz="1350" b="1" dirty="0">
              <a:solidFill>
                <a:srgbClr val="F8FAFF"/>
              </a:solidFill>
              <a:highlight>
                <a:srgbClr val="292A2D"/>
              </a:highlight>
              <a:latin typeface="Century Gothic" panose="020B0502020202020204" pitchFamily="34" charset="0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A3951-B5E0-43AC-33E1-054D3C2B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718" y="902675"/>
            <a:ext cx="5307839" cy="583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95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 txBox="1">
            <a:spLocks noGrp="1"/>
          </p:cNvSpPr>
          <p:nvPr>
            <p:ph type="title"/>
          </p:nvPr>
        </p:nvSpPr>
        <p:spPr>
          <a:xfrm>
            <a:off x="631614" y="23137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Register Bank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87" name="Google Shape;287;p12"/>
          <p:cNvSpPr txBox="1">
            <a:spLocks noGrp="1"/>
          </p:cNvSpPr>
          <p:nvPr>
            <p:ph idx="1"/>
          </p:nvPr>
        </p:nvSpPr>
        <p:spPr>
          <a:xfrm>
            <a:off x="631613" y="1403932"/>
            <a:ext cx="10241433" cy="5056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Key Components:</a:t>
            </a:r>
            <a:endParaRPr lang="en-US" sz="2400" dirty="0">
              <a:latin typeface="Montserrat" panose="00000500000000000000" pitchFamily="2" charset="0"/>
            </a:endParaRPr>
          </a:p>
          <a:p>
            <a:pPr marL="517525" indent="-166688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3-to-8 Decoder: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Converts </a:t>
            </a:r>
            <a:r>
              <a:rPr lang="en-US" dirty="0" err="1">
                <a:latin typeface="Montserrat" panose="00000500000000000000" pitchFamily="2" charset="0"/>
              </a:rPr>
              <a:t>Reg_En</a:t>
            </a:r>
            <a:r>
              <a:rPr lang="en-US" sz="2400" dirty="0">
                <a:latin typeface="Montserrat" panose="00000500000000000000" pitchFamily="2" charset="0"/>
              </a:rPr>
              <a:t> into one-hot register enable signals (</a:t>
            </a:r>
            <a:r>
              <a:rPr lang="en-US" dirty="0" err="1">
                <a:latin typeface="Montserrat" panose="00000500000000000000" pitchFamily="2" charset="0"/>
              </a:rPr>
              <a:t>Reg_Sel</a:t>
            </a:r>
            <a:r>
              <a:rPr lang="en-US" sz="2400" dirty="0">
                <a:latin typeface="Montserrat" panose="00000500000000000000" pitchFamily="2" charset="0"/>
              </a:rPr>
              <a:t>).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Example: </a:t>
            </a:r>
            <a:r>
              <a:rPr lang="en-US" dirty="0">
                <a:latin typeface="Montserrat" panose="00000500000000000000" pitchFamily="2" charset="0"/>
              </a:rPr>
              <a:t>"101"</a:t>
            </a:r>
            <a:r>
              <a:rPr lang="en-US" sz="2400" dirty="0">
                <a:latin typeface="Montserrat" panose="00000500000000000000" pitchFamily="2" charset="0"/>
              </a:rPr>
              <a:t> enables </a:t>
            </a:r>
            <a:r>
              <a:rPr lang="en-US" dirty="0">
                <a:latin typeface="Montserrat" panose="00000500000000000000" pitchFamily="2" charset="0"/>
              </a:rPr>
              <a:t>R5</a:t>
            </a:r>
            <a:r>
              <a:rPr lang="en-US" sz="2400" dirty="0">
                <a:latin typeface="Montserrat" panose="00000500000000000000" pitchFamily="2" charset="0"/>
              </a:rPr>
              <a:t>. </a:t>
            </a:r>
          </a:p>
          <a:p>
            <a:pPr marL="517525" indent="-166688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R0 (Zero Register):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Permanently stores </a:t>
            </a:r>
            <a:r>
              <a:rPr lang="en-US" dirty="0">
                <a:latin typeface="Montserrat" panose="00000500000000000000" pitchFamily="2" charset="0"/>
              </a:rPr>
              <a:t>"0000"</a:t>
            </a:r>
            <a:r>
              <a:rPr lang="en-US" sz="2400" dirty="0">
                <a:latin typeface="Montserrat" panose="00000500000000000000" pitchFamily="2" charset="0"/>
              </a:rPr>
              <a:t> and cannot be overwritten. </a:t>
            </a:r>
          </a:p>
          <a:p>
            <a:pPr marL="517525" indent="-166688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R1–R7 Registers: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General-purpose 4-bit registers.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Updated only when their enable signal is active during a clock edge.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>
          <a:extLst>
            <a:ext uri="{FF2B5EF4-FFF2-40B4-BE49-F238E27FC236}">
              <a16:creationId xmlns:a16="http://schemas.microsoft.com/office/drawing/2014/main" id="{6254A11C-F6F3-66F3-06B8-DAE36AF5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>
            <a:extLst>
              <a:ext uri="{FF2B5EF4-FFF2-40B4-BE49-F238E27FC236}">
                <a16:creationId xmlns:a16="http://schemas.microsoft.com/office/drawing/2014/main" id="{384BE755-63A5-773F-30D4-2F46949E4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614" y="23137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Register Bank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87" name="Google Shape;287;p12">
            <a:extLst>
              <a:ext uri="{FF2B5EF4-FFF2-40B4-BE49-F238E27FC236}">
                <a16:creationId xmlns:a16="http://schemas.microsoft.com/office/drawing/2014/main" id="{D792D848-67C8-035F-8BDA-5EADFEDF816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1613" y="1403932"/>
            <a:ext cx="10241433" cy="5056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Operation Flow:</a:t>
            </a:r>
            <a:endParaRPr lang="en-US" sz="2400" dirty="0">
              <a:latin typeface="Montserrat" panose="00000500000000000000" pitchFamily="2" charset="0"/>
            </a:endParaRPr>
          </a:p>
          <a:p>
            <a:pPr marL="517525" indent="-166688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Write: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Decoder selects a register using </a:t>
            </a:r>
            <a:r>
              <a:rPr lang="en-US" dirty="0" err="1">
                <a:latin typeface="Montserrat" panose="00000500000000000000" pitchFamily="2" charset="0"/>
              </a:rPr>
              <a:t>Reg_En</a:t>
            </a:r>
            <a:r>
              <a:rPr lang="en-US" sz="2400" dirty="0">
                <a:latin typeface="Montserrat" panose="00000500000000000000" pitchFamily="2" charset="0"/>
              </a:rPr>
              <a:t>, and the </a:t>
            </a:r>
            <a:r>
              <a:rPr lang="en-US" dirty="0">
                <a:latin typeface="Montserrat" panose="00000500000000000000" pitchFamily="2" charset="0"/>
              </a:rPr>
              <a:t>Data</a:t>
            </a:r>
            <a:r>
              <a:rPr lang="en-US" sz="2400" dirty="0">
                <a:latin typeface="Montserrat" panose="00000500000000000000" pitchFamily="2" charset="0"/>
              </a:rPr>
              <a:t> value is stored on the clock edge. </a:t>
            </a:r>
          </a:p>
          <a:p>
            <a:pPr marL="517525" indent="-166688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Read: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All register outputs are continuously available through </a:t>
            </a:r>
            <a:r>
              <a:rPr lang="en-US" dirty="0" err="1">
                <a:latin typeface="Montserrat" panose="00000500000000000000" pitchFamily="2" charset="0"/>
              </a:rPr>
              <a:t>Register_Outputs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Design Features:</a:t>
            </a:r>
            <a:endParaRPr lang="en-US" sz="2400" dirty="0">
              <a:latin typeface="Montserrat" panose="00000500000000000000" pitchFamily="2" charset="0"/>
            </a:endParaRPr>
          </a:p>
          <a:p>
            <a:pPr marL="515938" indent="-117475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Simultaneous access to all register values. </a:t>
            </a:r>
          </a:p>
          <a:p>
            <a:pPr marL="515938" indent="-117475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Asynchronous reset clears all registers. </a:t>
            </a:r>
          </a:p>
          <a:p>
            <a:pPr marL="515938" indent="-117475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R0 provides a constant zero value for safe ALU operations.</a:t>
            </a:r>
          </a:p>
          <a:p>
            <a:pPr marL="517525" indent="-166688">
              <a:buFont typeface="Arial" panose="020B0604020202020204" pitchFamily="34" charset="0"/>
              <a:buChar char="•"/>
            </a:pPr>
            <a:endParaRPr lang="en-US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807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D01AB2D-B877-004B-325A-EC4EBECE0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243" y="1280161"/>
            <a:ext cx="5365463" cy="5309153"/>
          </a:xfrm>
          <a:prstGeom prst="rect">
            <a:avLst/>
          </a:prstGeom>
        </p:spPr>
      </p:pic>
      <p:sp>
        <p:nvSpPr>
          <p:cNvPr id="16" name="Google Shape;286;p12">
            <a:extLst>
              <a:ext uri="{FF2B5EF4-FFF2-40B4-BE49-F238E27FC236}">
                <a16:creationId xmlns:a16="http://schemas.microsoft.com/office/drawing/2014/main" id="{906D0368-550A-5F1F-D20D-C041C8EAFE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614" y="231371"/>
            <a:ext cx="8596668" cy="104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Register Bank</a:t>
            </a: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faeff9449_3_47"/>
          <p:cNvSpPr txBox="1">
            <a:spLocks noGrp="1"/>
          </p:cNvSpPr>
          <p:nvPr>
            <p:ph type="title"/>
          </p:nvPr>
        </p:nvSpPr>
        <p:spPr>
          <a:xfrm>
            <a:off x="630442" y="23622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Register Data Multiplexer</a:t>
            </a:r>
            <a:endParaRPr sz="1700" b="1" dirty="0"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g35faeff9449_3_47"/>
          <p:cNvSpPr txBox="1">
            <a:spLocks noGrp="1"/>
          </p:cNvSpPr>
          <p:nvPr>
            <p:ph idx="1"/>
          </p:nvPr>
        </p:nvSpPr>
        <p:spPr>
          <a:xfrm>
            <a:off x="630442" y="1017589"/>
            <a:ext cx="10159478" cy="603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8925" lvl="0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Montserrat"/>
                <a:ea typeface="Montserrat"/>
                <a:cs typeface="Montserrat"/>
                <a:sym typeface="Montserrat"/>
              </a:rPr>
              <a:t>2-Way 3-Bit Multiplexer:</a:t>
            </a:r>
          </a:p>
          <a:p>
            <a:pPr marL="808038" lvl="0" indent="-2905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Selects one of two 3-bit inputs using a single select signal.</a:t>
            </a:r>
          </a:p>
          <a:p>
            <a:pPr marL="808038" lvl="0" indent="-2905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Used for choosing between two address or control values in the processor </a:t>
            </a:r>
            <a:r>
              <a:rPr lang="en-US" sz="2100" dirty="0" err="1">
                <a:latin typeface="Montserrat"/>
                <a:ea typeface="Montserrat"/>
                <a:cs typeface="Montserrat"/>
                <a:sym typeface="Montserrat"/>
              </a:rPr>
              <a:t>datapath</a:t>
            </a: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288925" lvl="0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Montserrat"/>
                <a:ea typeface="Montserrat"/>
                <a:cs typeface="Montserrat"/>
                <a:sym typeface="Montserrat"/>
              </a:rPr>
              <a:t>2-Way 4-Bit Multiplexer:</a:t>
            </a:r>
          </a:p>
          <a:p>
            <a:pPr marL="808038" lvl="0" indent="-2905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Selects one of two 4-bit data inputs based on a control </a:t>
            </a:r>
            <a:r>
              <a:rPr lang="en-US" sz="2100" dirty="0" err="1">
                <a:latin typeface="Montserrat"/>
                <a:ea typeface="Montserrat"/>
                <a:cs typeface="Montserrat"/>
                <a:sym typeface="Montserrat"/>
              </a:rPr>
              <a:t>signal.Commonly</a:t>
            </a: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 used for selecting between immediate values and ALU/register outputs.</a:t>
            </a:r>
          </a:p>
          <a:p>
            <a:pPr marL="288925" lvl="0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Montserrat"/>
                <a:ea typeface="Montserrat"/>
                <a:cs typeface="Montserrat"/>
                <a:sym typeface="Montserrat"/>
              </a:rPr>
              <a:t>8-Way 4-Bit Multiplexer:</a:t>
            </a:r>
          </a:p>
          <a:p>
            <a:pPr marL="808038" lvl="0" indent="-2905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Selects and outputs one of eight 4-bit inputs using a 3-bit select </a:t>
            </a:r>
            <a:r>
              <a:rPr lang="en-US" sz="2100" dirty="0" err="1">
                <a:latin typeface="Montserrat"/>
                <a:ea typeface="Montserrat"/>
                <a:cs typeface="Montserrat"/>
                <a:sym typeface="Montserrat"/>
              </a:rPr>
              <a:t>address.Used</a:t>
            </a: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 for accessing register values from the register bank during CPU operations.</a:t>
            </a:r>
          </a:p>
          <a:p>
            <a:pPr marL="288925" lvl="0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Montserrat"/>
                <a:ea typeface="Montserrat"/>
                <a:cs typeface="Montserrat"/>
                <a:sym typeface="Montserrat"/>
              </a:rPr>
              <a:t>Control Logic:</a:t>
            </a:r>
          </a:p>
          <a:p>
            <a:pPr marL="808038" lvl="0" indent="-29051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The select lines determine which input is routed to the output, enabling controlled data transfer within the processor </a:t>
            </a:r>
            <a:r>
              <a:rPr lang="en-US" sz="2100" dirty="0" err="1">
                <a:latin typeface="Montserrat"/>
                <a:ea typeface="Montserrat"/>
                <a:cs typeface="Montserrat"/>
                <a:sym typeface="Montserrat"/>
              </a:rPr>
              <a:t>datapath</a:t>
            </a: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1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EF4C7472-9266-13FB-B51F-F8055E05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faeff9449_3_47">
            <a:extLst>
              <a:ext uri="{FF2B5EF4-FFF2-40B4-BE49-F238E27FC236}">
                <a16:creationId xmlns:a16="http://schemas.microsoft.com/office/drawing/2014/main" id="{75C7921F-ECBC-6479-7D9E-11058AAA2B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442" y="23622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Register Data Multiplexer</a:t>
            </a:r>
            <a:endParaRPr sz="1700" b="1" dirty="0"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g35faeff9449_3_47">
            <a:extLst>
              <a:ext uri="{FF2B5EF4-FFF2-40B4-BE49-F238E27FC236}">
                <a16:creationId xmlns:a16="http://schemas.microsoft.com/office/drawing/2014/main" id="{86C0BA3D-6D30-2FF7-4F47-90005CD03CE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0442" y="1017589"/>
            <a:ext cx="10159478" cy="603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8925" lvl="0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Montserrat"/>
                <a:ea typeface="Montserrat"/>
                <a:cs typeface="Montserrat"/>
                <a:sym typeface="Montserrat"/>
              </a:rPr>
              <a:t>2-Way 3-Bit Multiplexer: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BFB20C-A33F-2579-C700-08528C9DC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606" y="1610730"/>
            <a:ext cx="5127262" cy="493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858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2EEED1B2-A0BC-32CC-BED3-57C79061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faeff9449_3_47">
            <a:extLst>
              <a:ext uri="{FF2B5EF4-FFF2-40B4-BE49-F238E27FC236}">
                <a16:creationId xmlns:a16="http://schemas.microsoft.com/office/drawing/2014/main" id="{38FE4F6D-4FB4-1D8A-6DA3-82EF8AC86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442" y="23622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Register Data Multiplexer</a:t>
            </a:r>
            <a:endParaRPr sz="1700" b="1" dirty="0"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g35faeff9449_3_47">
            <a:extLst>
              <a:ext uri="{FF2B5EF4-FFF2-40B4-BE49-F238E27FC236}">
                <a16:creationId xmlns:a16="http://schemas.microsoft.com/office/drawing/2014/main" id="{58DD64EB-FD05-F60D-829E-F3F611CBB23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0442" y="1017589"/>
            <a:ext cx="10159478" cy="603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8925" lvl="0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Montserrat"/>
                <a:ea typeface="Montserrat"/>
                <a:cs typeface="Montserrat"/>
                <a:sym typeface="Montserrat"/>
              </a:rPr>
              <a:t>2-Way 4-Bit Multiplexer: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5AC03-6489-986D-2A51-43F32D9FF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240" y="1617980"/>
            <a:ext cx="5464610" cy="506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188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1B80B942-2742-CA87-2DE4-3D14B38E4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faeff9449_3_47">
            <a:extLst>
              <a:ext uri="{FF2B5EF4-FFF2-40B4-BE49-F238E27FC236}">
                <a16:creationId xmlns:a16="http://schemas.microsoft.com/office/drawing/2014/main" id="{927FC1D8-4B0B-B76C-C8D6-57B54D5A2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442" y="23622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Register Data Multiplexer</a:t>
            </a:r>
            <a:endParaRPr sz="1700" b="1" dirty="0"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7777"/>
              <a:buFont typeface="Calibri"/>
              <a:buNone/>
            </a:pPr>
            <a:endParaRPr sz="4500" b="1" dirty="0">
              <a:latin typeface="Century Gothic" panose="020B0502020202020204" pitchFamily="34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g35faeff9449_3_47">
            <a:extLst>
              <a:ext uri="{FF2B5EF4-FFF2-40B4-BE49-F238E27FC236}">
                <a16:creationId xmlns:a16="http://schemas.microsoft.com/office/drawing/2014/main" id="{952A2C6B-C005-C5DB-87D8-9CB0FC19C0A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0442" y="1017589"/>
            <a:ext cx="10159478" cy="603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8925" lvl="0" indent="-28892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100" b="1" dirty="0">
                <a:latin typeface="Montserrat"/>
                <a:ea typeface="Montserrat"/>
                <a:cs typeface="Montserrat"/>
                <a:sym typeface="Montserrat"/>
              </a:rPr>
              <a:t>8-Way 4-Bit Multiplexer: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3A8C1-516F-2258-50A1-50FF7EB32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683" y="1017588"/>
            <a:ext cx="3899616" cy="560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271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aeff9449_3_0"/>
          <p:cNvSpPr txBox="1">
            <a:spLocks noGrp="1"/>
          </p:cNvSpPr>
          <p:nvPr>
            <p:ph type="title"/>
          </p:nvPr>
        </p:nvSpPr>
        <p:spPr>
          <a:xfrm>
            <a:off x="627459" y="236220"/>
            <a:ext cx="8596668" cy="92756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Seven Segment Display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318" name="Google Shape;318;g35faeff9449_3_0"/>
          <p:cNvSpPr txBox="1">
            <a:spLocks noGrp="1"/>
          </p:cNvSpPr>
          <p:nvPr>
            <p:ph idx="1"/>
          </p:nvPr>
        </p:nvSpPr>
        <p:spPr>
          <a:xfrm>
            <a:off x="627458" y="1611953"/>
            <a:ext cx="9131683" cy="473897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33363" marR="0" lvl="0" indent="-233363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Montserrat"/>
                <a:ea typeface="Montserrat"/>
                <a:cs typeface="Montserrat"/>
                <a:sym typeface="Montserrat"/>
              </a:rPr>
              <a:t>Operation:</a:t>
            </a:r>
          </a:p>
          <a:p>
            <a:pPr marL="465138" marR="0" lvl="0" indent="-115888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Converts a 4-bit binary input (0–15) into the corresponding 7-segment display pattern for hexadecimal output (0–F).</a:t>
            </a:r>
          </a:p>
          <a:p>
            <a:pPr marL="233363" marR="0" lvl="0" indent="-233363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b="1" dirty="0">
                <a:latin typeface="Montserrat"/>
                <a:ea typeface="Montserrat"/>
                <a:cs typeface="Montserrat"/>
                <a:sym typeface="Montserrat"/>
              </a:rPr>
              <a:t>Implementation:</a:t>
            </a:r>
          </a:p>
          <a:p>
            <a:pPr marL="465138" marR="0" lvl="0" indent="-115888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Uses a ROM-based lookup table with 16 entries, where each entry stores a 7-bit segment pattern for the display.</a:t>
            </a:r>
          </a:p>
          <a:p>
            <a:pPr marL="465138" marR="0" lvl="0" indent="-115888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"/>
                <a:ea typeface="Montserrat"/>
                <a:cs typeface="Montserrat"/>
                <a:sym typeface="Montserrat"/>
              </a:rPr>
              <a:t>The input address is converted into an integer index to access the correct hexadecimal digit pattern from the ROM.</a:t>
            </a:r>
            <a:endParaRPr sz="21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8111FF-13C3-C7A9-F4D8-ED24A9E59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058" y="1163782"/>
            <a:ext cx="4642960" cy="5539805"/>
          </a:xfrm>
          <a:prstGeom prst="rect">
            <a:avLst/>
          </a:prstGeom>
        </p:spPr>
      </p:pic>
      <p:sp>
        <p:nvSpPr>
          <p:cNvPr id="6" name="Google Shape;317;g35faeff9449_3_0">
            <a:extLst>
              <a:ext uri="{FF2B5EF4-FFF2-40B4-BE49-F238E27FC236}">
                <a16:creationId xmlns:a16="http://schemas.microsoft.com/office/drawing/2014/main" id="{564DA5C1-893B-97E4-B543-8FEAC88A19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459" y="236220"/>
            <a:ext cx="8596668" cy="92756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Seven Segment Display</a:t>
            </a: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5d37a3bd29_0_2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 sz="4800" b="1">
                <a:latin typeface="Montserrat"/>
                <a:ea typeface="Montserrat"/>
                <a:cs typeface="Montserrat"/>
                <a:sym typeface="Montserrat"/>
              </a:rPr>
              <a:t>Arithmetic and Logic Unit</a:t>
            </a:r>
            <a:endParaRPr sz="6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>
          <a:extLst>
            <a:ext uri="{FF2B5EF4-FFF2-40B4-BE49-F238E27FC236}">
              <a16:creationId xmlns:a16="http://schemas.microsoft.com/office/drawing/2014/main" id="{56345E97-B551-4CBD-783D-A57CB5615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d37a3bd29_0_289">
            <a:extLst>
              <a:ext uri="{FF2B5EF4-FFF2-40B4-BE49-F238E27FC236}">
                <a16:creationId xmlns:a16="http://schemas.microsoft.com/office/drawing/2014/main" id="{A57D81DA-4409-5B1B-625C-DB34C8D549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700" y="241855"/>
            <a:ext cx="8596668" cy="8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 err="1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Add_Sub</a:t>
            </a: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 Unit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367" name="Google Shape;367;g35d37a3bd29_0_289">
            <a:extLst>
              <a:ext uri="{FF2B5EF4-FFF2-40B4-BE49-F238E27FC236}">
                <a16:creationId xmlns:a16="http://schemas.microsoft.com/office/drawing/2014/main" id="{7A78CB10-C6C9-E2DB-9F08-B4DE7BAB67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17700" y="1447938"/>
            <a:ext cx="10750500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r>
              <a:rPr lang="en-US" sz="2400" b="1" dirty="0"/>
              <a:t>Addition and Subtraction Calculation:</a:t>
            </a:r>
            <a:br>
              <a:rPr lang="en-US" sz="2400" dirty="0"/>
            </a:br>
            <a:r>
              <a:rPr lang="en-US" sz="2400" dirty="0"/>
              <a:t>Performs 4-bit addition or subtraction on inputs </a:t>
            </a:r>
            <a:r>
              <a:rPr lang="en-US" dirty="0"/>
              <a:t>A_AS</a:t>
            </a:r>
            <a:r>
              <a:rPr lang="en-US" sz="2400" dirty="0"/>
              <a:t> and </a:t>
            </a:r>
            <a:r>
              <a:rPr lang="en-US" dirty="0"/>
              <a:t>B_AS</a:t>
            </a:r>
            <a:r>
              <a:rPr lang="en-US" sz="2400" dirty="0"/>
              <a:t> using the </a:t>
            </a:r>
            <a:r>
              <a:rPr lang="en-US" dirty="0"/>
              <a:t>CTRL</a:t>
            </a:r>
            <a:r>
              <a:rPr lang="en-US" sz="2400" dirty="0"/>
              <a:t> signal.</a:t>
            </a:r>
          </a:p>
          <a:p>
            <a:r>
              <a:rPr lang="en-US" dirty="0"/>
              <a:t>CTRL = '0'</a:t>
            </a:r>
            <a:r>
              <a:rPr lang="en-US" sz="2400" dirty="0"/>
              <a:t> → Addition (</a:t>
            </a:r>
            <a:r>
              <a:rPr lang="en-US" dirty="0"/>
              <a:t>A_AS + B_AS</a:t>
            </a:r>
            <a:r>
              <a:rPr lang="en-US" sz="2400" dirty="0"/>
              <a:t>) </a:t>
            </a:r>
          </a:p>
          <a:p>
            <a:r>
              <a:rPr lang="en-US" dirty="0"/>
              <a:t>CTRL = '1'</a:t>
            </a:r>
            <a:r>
              <a:rPr lang="en-US" sz="2400" dirty="0"/>
              <a:t> → Subtraction (</a:t>
            </a:r>
            <a:r>
              <a:rPr lang="en-US" dirty="0"/>
              <a:t>A_AS - B_AS</a:t>
            </a:r>
            <a:r>
              <a:rPr lang="en-US" sz="2400" dirty="0"/>
              <a:t>) using 2’s complement </a:t>
            </a:r>
          </a:p>
          <a:p>
            <a:r>
              <a:rPr lang="en-US" sz="2400" dirty="0"/>
              <a:t>Example:</a:t>
            </a:r>
            <a:br>
              <a:rPr lang="en-US" sz="2400" dirty="0"/>
            </a:br>
            <a:r>
              <a:rPr lang="en-US" dirty="0"/>
              <a:t>5 (0101) - 3 (0011)</a:t>
            </a:r>
            <a:br>
              <a:rPr lang="en-US" sz="2400" dirty="0"/>
            </a:br>
            <a:r>
              <a:rPr lang="en-US" sz="2400" dirty="0"/>
              <a:t>→ Inverted </a:t>
            </a:r>
            <a:r>
              <a:rPr lang="en-US" dirty="0"/>
              <a:t>B_AS = 1100</a:t>
            </a:r>
            <a:r>
              <a:rPr lang="en-US" sz="2400" dirty="0"/>
              <a:t>, </a:t>
            </a:r>
            <a:r>
              <a:rPr lang="en-US" dirty="0" err="1"/>
              <a:t>C_in</a:t>
            </a:r>
            <a:r>
              <a:rPr lang="en-US" dirty="0"/>
              <a:t> = 1</a:t>
            </a:r>
            <a:br>
              <a:rPr lang="en-US" sz="2400" dirty="0"/>
            </a:br>
            <a:r>
              <a:rPr lang="en-US" sz="2400" dirty="0"/>
              <a:t>→ Result = </a:t>
            </a:r>
            <a:r>
              <a:rPr lang="en-US" dirty="0"/>
              <a:t>0010</a:t>
            </a:r>
            <a:r>
              <a:rPr lang="en-US" sz="2400" dirty="0"/>
              <a:t> (2)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300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Overflow Detection Support:</a:t>
            </a:r>
          </a:p>
          <a:p>
            <a:pPr marL="576263" indent="-179388">
              <a:buFont typeface="Arial" panose="020B0604020202020204" pitchFamily="34" charset="0"/>
              <a:buChar char="•"/>
            </a:pPr>
            <a:r>
              <a:rPr lang="en-US" sz="2500" dirty="0" err="1">
                <a:latin typeface="Montserrat" panose="00000500000000000000" pitchFamily="2" charset="0"/>
              </a:rPr>
              <a:t>Product_H</a:t>
            </a:r>
            <a:r>
              <a:rPr lang="en-US" sz="2500" dirty="0">
                <a:latin typeface="Montserrat" panose="00000500000000000000" pitchFamily="2" charset="0"/>
              </a:rPr>
              <a:t> stores the upper 4 bits of the 8-bit product.</a:t>
            </a:r>
          </a:p>
          <a:p>
            <a:pPr marL="576263" indent="-179388">
              <a:buFont typeface="Arial" panose="020B0604020202020204" pitchFamily="34" charset="0"/>
              <a:buChar char="•"/>
            </a:pPr>
            <a:r>
              <a:rPr lang="en-US" sz="2500" dirty="0">
                <a:latin typeface="Montserrat" panose="00000500000000000000" pitchFamily="2" charset="0"/>
              </a:rPr>
              <a:t>If </a:t>
            </a:r>
            <a:r>
              <a:rPr lang="en-US" sz="2500" dirty="0" err="1">
                <a:latin typeface="Montserrat" panose="00000500000000000000" pitchFamily="2" charset="0"/>
              </a:rPr>
              <a:t>Product_H</a:t>
            </a:r>
            <a:r>
              <a:rPr lang="en-US" sz="2500" dirty="0">
                <a:latin typeface="Montserrat" panose="00000500000000000000" pitchFamily="2" charset="0"/>
              </a:rPr>
              <a:t> ≠ "0000", the multiplication result exceeds the 4-bit data range, indicating overflow.</a:t>
            </a:r>
          </a:p>
        </p:txBody>
      </p:sp>
    </p:spTree>
    <p:extLst>
      <p:ext uri="{BB962C8B-B14F-4D97-AF65-F5344CB8AC3E}">
        <p14:creationId xmlns:p14="http://schemas.microsoft.com/office/powerpoint/2010/main" val="15850018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>
          <a:extLst>
            <a:ext uri="{FF2B5EF4-FFF2-40B4-BE49-F238E27FC236}">
              <a16:creationId xmlns:a16="http://schemas.microsoft.com/office/drawing/2014/main" id="{33C99A09-09A2-035A-D6A5-A7B4C2A60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CA7DB7-A0D5-CD81-9E76-74E1D2984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627" y="1139562"/>
            <a:ext cx="6213906" cy="5421695"/>
          </a:xfrm>
          <a:prstGeom prst="rect">
            <a:avLst/>
          </a:prstGeom>
        </p:spPr>
      </p:pic>
      <p:sp>
        <p:nvSpPr>
          <p:cNvPr id="6" name="Google Shape;366;g35d37a3bd29_0_289">
            <a:extLst>
              <a:ext uri="{FF2B5EF4-FFF2-40B4-BE49-F238E27FC236}">
                <a16:creationId xmlns:a16="http://schemas.microsoft.com/office/drawing/2014/main" id="{FACC5905-C72A-0A75-CAC1-19F19F147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700" y="241855"/>
            <a:ext cx="8596668" cy="8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Multiplier Unit</a:t>
            </a:r>
            <a:endParaRPr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9513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5d37a3bd29_0_289"/>
          <p:cNvSpPr txBox="1">
            <a:spLocks noGrp="1"/>
          </p:cNvSpPr>
          <p:nvPr>
            <p:ph type="title"/>
          </p:nvPr>
        </p:nvSpPr>
        <p:spPr>
          <a:xfrm>
            <a:off x="617700" y="241855"/>
            <a:ext cx="8596668" cy="8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Multiplier Unit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367" name="Google Shape;367;g35d37a3bd29_0_289"/>
          <p:cNvSpPr txBox="1">
            <a:spLocks noGrp="1"/>
          </p:cNvSpPr>
          <p:nvPr>
            <p:ph idx="1"/>
          </p:nvPr>
        </p:nvSpPr>
        <p:spPr>
          <a:xfrm>
            <a:off x="617700" y="1447938"/>
            <a:ext cx="10750500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8-bit Product Calculation:</a:t>
            </a:r>
          </a:p>
          <a:p>
            <a:pPr marL="576263" indent="-179388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400" dirty="0">
                <a:latin typeface="Montserrat" panose="00000500000000000000" pitchFamily="2" charset="0"/>
              </a:rPr>
              <a:t>Multiplies two 4-bit unsigned numbers (</a:t>
            </a:r>
            <a:r>
              <a:rPr lang="en-US" dirty="0">
                <a:latin typeface="Montserrat" panose="00000500000000000000" pitchFamily="2" charset="0"/>
              </a:rPr>
              <a:t>A</a:t>
            </a:r>
            <a:r>
              <a:rPr lang="en-US" sz="2400" dirty="0">
                <a:latin typeface="Montserrat" panose="00000500000000000000" pitchFamily="2" charset="0"/>
              </a:rPr>
              <a:t>, </a:t>
            </a:r>
            <a:r>
              <a:rPr lang="en-US" dirty="0">
                <a:latin typeface="Montserrat" panose="00000500000000000000" pitchFamily="2" charset="0"/>
              </a:rPr>
              <a:t>B</a:t>
            </a:r>
            <a:r>
              <a:rPr lang="en-US" sz="2400" dirty="0">
                <a:latin typeface="Montserrat" panose="00000500000000000000" pitchFamily="2" charset="0"/>
              </a:rPr>
              <a:t>) to generate an 8-bit product (</a:t>
            </a:r>
            <a:r>
              <a:rPr lang="en-US" dirty="0" err="1">
                <a:latin typeface="Montserrat" panose="00000500000000000000" pitchFamily="2" charset="0"/>
              </a:rPr>
              <a:t>full_product</a:t>
            </a:r>
            <a:r>
              <a:rPr lang="en-US" sz="2400" dirty="0">
                <a:latin typeface="Montserrat" panose="00000500000000000000" pitchFamily="2" charset="0"/>
              </a:rPr>
              <a:t>).</a:t>
            </a:r>
          </a:p>
          <a:p>
            <a:pPr marL="576263" indent="-179388">
              <a:buFont typeface="Arial" panose="020B0604020202020204" pitchFamily="34" charset="0"/>
              <a:buChar char="•"/>
              <a:tabLst>
                <a:tab pos="347663" algn="l"/>
              </a:tabLst>
            </a:pPr>
            <a:r>
              <a:rPr lang="en-US" sz="2400" dirty="0">
                <a:latin typeface="Montserrat" panose="00000500000000000000" pitchFamily="2" charset="0"/>
              </a:rPr>
              <a:t>Example: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dirty="0">
                <a:latin typeface="Montserrat" panose="00000500000000000000" pitchFamily="2" charset="0"/>
              </a:rPr>
              <a:t>4 (0100) × 4 (0100) = 16 (00010000)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→ Lower 4 bits: </a:t>
            </a:r>
            <a:r>
              <a:rPr lang="en-US" dirty="0">
                <a:latin typeface="Montserrat" panose="00000500000000000000" pitchFamily="2" charset="0"/>
              </a:rPr>
              <a:t>0000</a:t>
            </a:r>
            <a:r>
              <a:rPr lang="en-US" sz="2400" dirty="0">
                <a:latin typeface="Montserrat" panose="00000500000000000000" pitchFamily="2" charset="0"/>
              </a:rPr>
              <a:t> (</a:t>
            </a:r>
            <a:r>
              <a:rPr lang="en-US" dirty="0" err="1">
                <a:latin typeface="Montserrat" panose="00000500000000000000" pitchFamily="2" charset="0"/>
              </a:rPr>
              <a:t>Product_L</a:t>
            </a:r>
            <a:r>
              <a:rPr lang="en-US" sz="2400" dirty="0">
                <a:latin typeface="Montserrat" panose="00000500000000000000" pitchFamily="2" charset="0"/>
              </a:rPr>
              <a:t>)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→ Upper 4 bits: </a:t>
            </a:r>
            <a:r>
              <a:rPr lang="en-US" dirty="0">
                <a:latin typeface="Montserrat" panose="00000500000000000000" pitchFamily="2" charset="0"/>
              </a:rPr>
              <a:t>0001</a:t>
            </a:r>
            <a:r>
              <a:rPr lang="en-US" sz="2400" dirty="0">
                <a:latin typeface="Montserrat" panose="00000500000000000000" pitchFamily="2" charset="0"/>
              </a:rPr>
              <a:t> (</a:t>
            </a:r>
            <a:r>
              <a:rPr lang="en-US" dirty="0" err="1">
                <a:latin typeface="Montserrat" panose="00000500000000000000" pitchFamily="2" charset="0"/>
              </a:rPr>
              <a:t>Product_H</a:t>
            </a:r>
            <a:r>
              <a:rPr lang="en-US" sz="2400" dirty="0">
                <a:latin typeface="Montserrat" panose="00000500000000000000" pitchFamily="2" charset="0"/>
              </a:rPr>
              <a:t>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300" dirty="0"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Overflow Detection Support:</a:t>
            </a:r>
          </a:p>
          <a:p>
            <a:pPr marL="576263" indent="-179388">
              <a:buFont typeface="Arial" panose="020B0604020202020204" pitchFamily="34" charset="0"/>
              <a:buChar char="•"/>
            </a:pPr>
            <a:r>
              <a:rPr lang="en-US" sz="2500" dirty="0" err="1">
                <a:latin typeface="Montserrat" panose="00000500000000000000" pitchFamily="2" charset="0"/>
              </a:rPr>
              <a:t>Product_H</a:t>
            </a:r>
            <a:r>
              <a:rPr lang="en-US" sz="2500" dirty="0">
                <a:latin typeface="Montserrat" panose="00000500000000000000" pitchFamily="2" charset="0"/>
              </a:rPr>
              <a:t> stores the upper 4 bits of the 8-bit product.</a:t>
            </a:r>
          </a:p>
          <a:p>
            <a:pPr marL="576263" indent="-179388">
              <a:buFont typeface="Arial" panose="020B0604020202020204" pitchFamily="34" charset="0"/>
              <a:buChar char="•"/>
            </a:pPr>
            <a:r>
              <a:rPr lang="en-US" sz="2500" dirty="0">
                <a:latin typeface="Montserrat" panose="00000500000000000000" pitchFamily="2" charset="0"/>
              </a:rPr>
              <a:t>If </a:t>
            </a:r>
            <a:r>
              <a:rPr lang="en-US" sz="2500" dirty="0" err="1">
                <a:latin typeface="Montserrat" panose="00000500000000000000" pitchFamily="2" charset="0"/>
              </a:rPr>
              <a:t>Product_H</a:t>
            </a:r>
            <a:r>
              <a:rPr lang="en-US" sz="2500" dirty="0">
                <a:latin typeface="Montserrat" panose="00000500000000000000" pitchFamily="2" charset="0"/>
              </a:rPr>
              <a:t> ≠ "0000", the multiplication result exceeds the 4-bit data range, indicating overflow.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8FEAF-0C71-571A-CD2B-D7FB2DCF2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627" y="1139562"/>
            <a:ext cx="6213906" cy="5421695"/>
          </a:xfrm>
          <a:prstGeom prst="rect">
            <a:avLst/>
          </a:prstGeom>
        </p:spPr>
      </p:pic>
      <p:sp>
        <p:nvSpPr>
          <p:cNvPr id="6" name="Google Shape;366;g35d37a3bd29_0_289">
            <a:extLst>
              <a:ext uri="{FF2B5EF4-FFF2-40B4-BE49-F238E27FC236}">
                <a16:creationId xmlns:a16="http://schemas.microsoft.com/office/drawing/2014/main" id="{0D9021F9-0D8C-783F-687C-C13B061C4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700" y="241855"/>
            <a:ext cx="8596668" cy="8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Multiplier Unit</a:t>
            </a: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5faeff9449_3_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Multiplier Unit</a:t>
            </a:r>
            <a:endParaRPr/>
          </a:p>
        </p:txBody>
      </p:sp>
      <p:pic>
        <p:nvPicPr>
          <p:cNvPr id="385" name="Google Shape;385;g35faeff9449_3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244275"/>
            <a:ext cx="96583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d37a3bd29_0_3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Comparator Unit</a:t>
            </a:r>
            <a:endParaRPr/>
          </a:p>
        </p:txBody>
      </p:sp>
      <p:sp>
        <p:nvSpPr>
          <p:cNvPr id="397" name="Google Shape;397;g35d37a3bd29_0_304"/>
          <p:cNvSpPr txBox="1">
            <a:spLocks noGrp="1"/>
          </p:cNvSpPr>
          <p:nvPr>
            <p:ph idx="1"/>
          </p:nvPr>
        </p:nvSpPr>
        <p:spPr>
          <a:xfrm>
            <a:off x="543150" y="1612425"/>
            <a:ext cx="11105700" cy="49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Purpose :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Compare two 4-bit signed numbers using 2’s complement representation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Generates three comparison flags :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1828800" lvl="0" indent="-3507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24"/>
              <a:buFont typeface="Montserrat"/>
              <a:buAutoNum type="arabicPeriod"/>
            </a:pPr>
            <a:r>
              <a:rPr lang="en-GB" sz="1924">
                <a:latin typeface="Montserrat"/>
                <a:ea typeface="Montserrat"/>
                <a:cs typeface="Montserrat"/>
                <a:sym typeface="Montserrat"/>
              </a:rPr>
              <a:t>Equal_Flag</a:t>
            </a:r>
            <a:endParaRPr sz="1924">
              <a:latin typeface="Montserrat"/>
              <a:ea typeface="Montserrat"/>
              <a:cs typeface="Montserrat"/>
              <a:sym typeface="Montserrat"/>
            </a:endParaRPr>
          </a:p>
          <a:p>
            <a:pPr marL="1828800" lvl="0" indent="-3507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24"/>
              <a:buFont typeface="Montserrat"/>
              <a:buAutoNum type="arabicPeriod"/>
            </a:pPr>
            <a:r>
              <a:rPr lang="en-GB" sz="1924">
                <a:latin typeface="Montserrat"/>
                <a:ea typeface="Montserrat"/>
                <a:cs typeface="Montserrat"/>
                <a:sym typeface="Montserrat"/>
              </a:rPr>
              <a:t>GreaterThan_Flag</a:t>
            </a:r>
            <a:endParaRPr sz="1924">
              <a:latin typeface="Montserrat"/>
              <a:ea typeface="Montserrat"/>
              <a:cs typeface="Montserrat"/>
              <a:sym typeface="Montserrat"/>
            </a:endParaRPr>
          </a:p>
          <a:p>
            <a:pPr marL="1828800" lvl="0" indent="-3507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24"/>
              <a:buFont typeface="Montserrat"/>
              <a:buAutoNum type="arabicPeriod"/>
            </a:pPr>
            <a:r>
              <a:rPr lang="en-GB" sz="1924">
                <a:latin typeface="Montserrat"/>
                <a:ea typeface="Montserrat"/>
                <a:cs typeface="Montserrat"/>
                <a:sym typeface="Montserrat"/>
              </a:rPr>
              <a:t>LessThan_Flag</a:t>
            </a:r>
            <a:endParaRPr sz="1924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How it works :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If Input_A = Input_B , Equal_Flag = ‘ 1 ’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If Input_A &lt; Input_B , LessTHan_Flag = ‘ 1 ’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If Input_A &gt; Input_B , GreaterThan_Flag = ‘ 1 ‘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5d37a3bd29_0_3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Comparator Unit</a:t>
            </a:r>
            <a:endParaRPr/>
          </a:p>
        </p:txBody>
      </p:sp>
      <p:pic>
        <p:nvPicPr>
          <p:cNvPr id="403" name="Google Shape;403;g35d37a3bd29_0_3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71075"/>
            <a:ext cx="9488100" cy="507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5d37a3bd29_0_3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Bitwise Operator Unit</a:t>
            </a:r>
            <a:endParaRPr/>
          </a:p>
        </p:txBody>
      </p:sp>
      <p:sp>
        <p:nvSpPr>
          <p:cNvPr id="415" name="Google Shape;415;g35d37a3bd29_0_321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750500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Core Functionality:</a:t>
            </a:r>
            <a:br>
              <a:rPr lang="en-GB" sz="23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Performs bit-level logic operations between two 4-bit values: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AND: Result = A &amp; B (Bitwise AND)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OR: Result    = A | B   (Bitwise OR)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•"/>
            </a:pPr>
            <a:r>
              <a:rPr lang="en-GB" sz="2300">
                <a:latin typeface="Montserrat"/>
                <a:ea typeface="Montserrat"/>
                <a:cs typeface="Montserrat"/>
                <a:sym typeface="Montserrat"/>
              </a:rPr>
              <a:t>XOR: Result  = A ^ B (Bitwise XOR)</a:t>
            </a:r>
            <a:endParaRPr sz="1200">
              <a:solidFill>
                <a:srgbClr val="F8FAFF"/>
              </a:solidFill>
              <a:highlight>
                <a:srgbClr val="292A2D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5d37a3bd29_0_3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Bitwise Operator Unit</a:t>
            </a:r>
            <a:endParaRPr/>
          </a:p>
        </p:txBody>
      </p:sp>
      <p:pic>
        <p:nvPicPr>
          <p:cNvPr id="421" name="Google Shape;421;g35d37a3bd29_0_326" title="Screenshot 2025-05-25 2247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125" y="1796200"/>
            <a:ext cx="8698200" cy="37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d37a3bd29_0_255"/>
          <p:cNvSpPr txBox="1">
            <a:spLocks noGrp="1"/>
          </p:cNvSpPr>
          <p:nvPr>
            <p:ph type="title"/>
          </p:nvPr>
        </p:nvSpPr>
        <p:spPr>
          <a:xfrm>
            <a:off x="627459" y="236220"/>
            <a:ext cx="8596668" cy="79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ALU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341" name="Google Shape;341;g35d37a3bd29_0_255"/>
          <p:cNvSpPr txBox="1">
            <a:spLocks noGrp="1"/>
          </p:cNvSpPr>
          <p:nvPr>
            <p:ph idx="1"/>
          </p:nvPr>
        </p:nvSpPr>
        <p:spPr>
          <a:xfrm>
            <a:off x="627459" y="1224511"/>
            <a:ext cx="9015305" cy="5181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2300" dirty="0" err="1">
                <a:latin typeface="Montserrat"/>
                <a:ea typeface="Montserrat"/>
                <a:cs typeface="Montserrat"/>
                <a:sym typeface="Montserrat"/>
              </a:rPr>
              <a:t>Extended_ALU</a:t>
            </a: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 performs multiple 4-bit arithmetic and logic operations based on the 4-bit Op control signal.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0000 → Addition (A +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0001 → Subtraction (A -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0010 → Negation (0 -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0011 → Multiplication (A ×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0100 → Bitwise AND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0101 → Bitwise OR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1000 → Equal Comparison (A =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1001 → Greater Than Comparison (A &gt; B)</a:t>
            </a:r>
          </a:p>
          <a:p>
            <a:pPr marL="565150" lvl="0" indent="-215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latin typeface="Montserrat"/>
                <a:ea typeface="Montserrat"/>
                <a:cs typeface="Montserrat"/>
                <a:sym typeface="Montserrat"/>
              </a:rPr>
              <a:t>1010 → Less Than Comparison (A &lt; B)</a:t>
            </a:r>
            <a:endParaRPr sz="23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67897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56229749-7A31-BDB1-4F75-666FCD9F7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d37a3bd29_0_255">
            <a:extLst>
              <a:ext uri="{FF2B5EF4-FFF2-40B4-BE49-F238E27FC236}">
                <a16:creationId xmlns:a16="http://schemas.microsoft.com/office/drawing/2014/main" id="{7DB8D041-AB2C-4BA6-9E96-70B6CCC638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459" y="236220"/>
            <a:ext cx="8596668" cy="79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ALU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341" name="Google Shape;341;g35d37a3bd29_0_255">
            <a:extLst>
              <a:ext uri="{FF2B5EF4-FFF2-40B4-BE49-F238E27FC236}">
                <a16:creationId xmlns:a16="http://schemas.microsoft.com/office/drawing/2014/main" id="{8ED8F3C1-FFDC-B1DB-6528-A5290CDC004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7459" y="1224511"/>
            <a:ext cx="9397690" cy="5181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33363" indent="-233363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Key Components:</a:t>
            </a:r>
            <a:endParaRPr lang="en-US" sz="2400" dirty="0">
              <a:latin typeface="Montserrat" panose="00000500000000000000" pitchFamily="2" charset="0"/>
            </a:endParaRPr>
          </a:p>
          <a:p>
            <a:pPr marL="742950" indent="-277813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Arithmetic Logic Unit: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Performs arithmetic operations using unsigned binary calculations. </a:t>
            </a:r>
          </a:p>
          <a:p>
            <a:pPr marL="742950" indent="-277813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Multiplication Logic: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Generates an 8-bit product and returns the lower 4 bits as the result. </a:t>
            </a:r>
          </a:p>
          <a:p>
            <a:pPr marL="742950" indent="-277813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Comparison Logic: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dirty="0">
                <a:latin typeface="Montserrat" panose="00000500000000000000" pitchFamily="2" charset="0"/>
              </a:rPr>
              <a:t>Produces "0001" when the comparison condition is true, otherwise "0000". </a:t>
            </a:r>
          </a:p>
          <a:p>
            <a:pPr marL="742950" indent="-277813"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anose="00000500000000000000" pitchFamily="2" charset="0"/>
              </a:rPr>
              <a:t>Flag Generation: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</a:p>
          <a:p>
            <a:pPr marL="963613" lvl="1" indent="-215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Zero flag becomes '1' when the result equals "0000". </a:t>
            </a:r>
          </a:p>
          <a:p>
            <a:pPr marL="963613" lvl="1" indent="-21590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Overflow flag detects carry-out in arithmetic operations and overflow in multiplication.</a:t>
            </a:r>
          </a:p>
        </p:txBody>
      </p:sp>
    </p:spTree>
    <p:extLst>
      <p:ext uri="{BB962C8B-B14F-4D97-AF65-F5344CB8AC3E}">
        <p14:creationId xmlns:p14="http://schemas.microsoft.com/office/powerpoint/2010/main" val="39096084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d37a3bd29_0_267"/>
          <p:cNvSpPr txBox="1">
            <a:spLocks noGrp="1"/>
          </p:cNvSpPr>
          <p:nvPr>
            <p:ph idx="1"/>
          </p:nvPr>
        </p:nvSpPr>
        <p:spPr>
          <a:xfrm>
            <a:off x="627459" y="1159500"/>
            <a:ext cx="10515600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GB" sz="2300" b="1" dirty="0">
                <a:latin typeface="Montserrat"/>
                <a:ea typeface="Montserrat"/>
                <a:cs typeface="Montserrat"/>
                <a:sym typeface="Montserrat"/>
              </a:rPr>
              <a:t>Zero Detection &amp; Overflow Detection:</a:t>
            </a:r>
            <a:endParaRPr sz="23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2300" b="1" dirty="0"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2300" b="1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78593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23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340;g35d37a3bd29_0_255">
            <a:extLst>
              <a:ext uri="{FF2B5EF4-FFF2-40B4-BE49-F238E27FC236}">
                <a16:creationId xmlns:a16="http://schemas.microsoft.com/office/drawing/2014/main" id="{324E0034-BB25-1F9F-115D-42F2AED44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7459" y="236220"/>
            <a:ext cx="8596668" cy="79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Century Gothic" panose="020B0502020202020204" pitchFamily="34" charset="0"/>
                <a:ea typeface="Montserrat"/>
                <a:cs typeface="Montserrat"/>
                <a:sym typeface="Montserrat"/>
              </a:rPr>
              <a:t>ALU</a:t>
            </a:r>
            <a:endParaRPr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2E001-CC1A-6534-D1DA-2CA89E876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59" y="1914923"/>
            <a:ext cx="8328654" cy="455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184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d37a3bd29_0_371"/>
          <p:cNvSpPr txBox="1">
            <a:spLocks noGrp="1"/>
          </p:cNvSpPr>
          <p:nvPr>
            <p:ph type="title"/>
          </p:nvPr>
        </p:nvSpPr>
        <p:spPr>
          <a:xfrm>
            <a:off x="677334" y="185195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Fundamental Building Blocks</a:t>
            </a:r>
            <a:endParaRPr dirty="0"/>
          </a:p>
        </p:txBody>
      </p:sp>
      <p:sp>
        <p:nvSpPr>
          <p:cNvPr id="463" name="Google Shape;463;g35d37a3bd29_0_371"/>
          <p:cNvSpPr txBox="1"/>
          <p:nvPr/>
        </p:nvSpPr>
        <p:spPr>
          <a:xfrm>
            <a:off x="838200" y="976677"/>
            <a:ext cx="10515600" cy="5784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746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AutoNum type="arabicPeriod"/>
            </a:pPr>
            <a:r>
              <a:rPr lang="en-GB" sz="2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Multiplexers (Data Selectors)</a:t>
            </a:r>
            <a:endParaRPr sz="2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GB" sz="2300" dirty="0">
                <a:solidFill>
                  <a:schemeClr val="dk1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8-way 4-bit: </a:t>
            </a:r>
            <a:r>
              <a:rPr lang="en-US" sz="2300" dirty="0">
                <a:latin typeface="Montserrat" pitchFamily="2" charset="0"/>
              </a:rPr>
              <a:t>Uses 3 select lines to route one of eight 4-bit inputs to a single 4-bit output.</a:t>
            </a:r>
            <a:endParaRPr lang="en-US" sz="2300" dirty="0">
              <a:solidFill>
                <a:schemeClr val="dk1"/>
              </a:solidFill>
              <a:latin typeface="Montserrat" pitchFamily="2" charset="0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US" sz="2300" dirty="0">
                <a:solidFill>
                  <a:schemeClr val="dk1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2-way 3-bit: </a:t>
            </a:r>
            <a:r>
              <a:rPr lang="en-US" sz="2300" dirty="0">
                <a:latin typeface="Montserrat" pitchFamily="2" charset="0"/>
              </a:rPr>
              <a:t>Uses 1 select line to choose between two 3-bit data paths.</a:t>
            </a:r>
            <a:endParaRPr lang="en-US" sz="2300" dirty="0">
              <a:solidFill>
                <a:schemeClr val="dk1"/>
              </a:solidFill>
              <a:latin typeface="Montserrat" pitchFamily="2" charset="0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GB" sz="2300" dirty="0">
                <a:solidFill>
                  <a:schemeClr val="dk1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2-way 4-bit: </a:t>
            </a:r>
            <a:r>
              <a:rPr lang="en-US" sz="2300" dirty="0">
                <a:latin typeface="Montserrat" pitchFamily="2" charset="0"/>
              </a:rPr>
              <a:t>Uses 1 select line to route one of two 4-bit inputs to a single output.</a:t>
            </a:r>
            <a:br>
              <a:rPr lang="en-GB" sz="2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2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AutoNum type="arabicPeriod"/>
            </a:pPr>
            <a:r>
              <a:rPr lang="en-GB" sz="2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Adders</a:t>
            </a:r>
            <a:endParaRPr sz="2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GB" sz="2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Half Adder: Adds 2 bits, outputs Sum and Carry.</a:t>
            </a:r>
            <a:endParaRPr sz="2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GB" sz="2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Full Adder: Adds 2 inputs + Carry-in, outputs Sum and Carry-out.</a:t>
            </a:r>
            <a:endParaRPr sz="2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GB" sz="2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3-bit Ripple Carry Adder: Cascades 3 Full Adders for 3-bit arithmetic.</a:t>
            </a:r>
            <a:endParaRPr sz="23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GB" sz="23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4-bit Ripple Carry Adder: Performs 4-bit addition/subtraction.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5d37a3bd29_0_380"/>
          <p:cNvSpPr txBox="1">
            <a:spLocks noGrp="1"/>
          </p:cNvSpPr>
          <p:nvPr>
            <p:ph type="title"/>
          </p:nvPr>
        </p:nvSpPr>
        <p:spPr>
          <a:xfrm>
            <a:off x="677334" y="225808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 dirty="0">
                <a:latin typeface="Montserrat"/>
                <a:ea typeface="Montserrat"/>
                <a:cs typeface="Montserrat"/>
                <a:sym typeface="Montserrat"/>
              </a:rPr>
              <a:t>Fundamental Building Blocks</a:t>
            </a:r>
            <a:endParaRPr dirty="0"/>
          </a:p>
        </p:txBody>
      </p:sp>
      <p:sp>
        <p:nvSpPr>
          <p:cNvPr id="469" name="Google Shape;469;g35d37a3bd29_0_380"/>
          <p:cNvSpPr txBox="1"/>
          <p:nvPr/>
        </p:nvSpPr>
        <p:spPr>
          <a:xfrm>
            <a:off x="838200" y="1108909"/>
            <a:ext cx="10782300" cy="508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2300" dirty="0">
                <a:solidFill>
                  <a:schemeClr val="dk1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3. Decoders</a:t>
            </a:r>
            <a:endParaRPr sz="2300" dirty="0">
              <a:solidFill>
                <a:schemeClr val="dk1"/>
              </a:solidFill>
              <a:latin typeface="Montserrat" pitchFamily="2" charset="0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GB" sz="2300" dirty="0">
                <a:solidFill>
                  <a:schemeClr val="dk1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2-to-4 Decoder: </a:t>
            </a:r>
            <a:r>
              <a:rPr lang="en-US" sz="2300" dirty="0">
                <a:latin typeface="Montserrat" pitchFamily="2" charset="0"/>
              </a:rPr>
              <a:t>Takes a 2-bit input and activates exactly one of 4 output lines</a:t>
            </a:r>
            <a:r>
              <a:rPr lang="en-GB" sz="2300" dirty="0">
                <a:solidFill>
                  <a:schemeClr val="dk1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.</a:t>
            </a:r>
            <a:endParaRPr sz="2300" dirty="0">
              <a:solidFill>
                <a:schemeClr val="dk1"/>
              </a:solidFill>
              <a:latin typeface="Montserrat" pitchFamily="2" charset="0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GB" sz="2300" dirty="0">
                <a:solidFill>
                  <a:schemeClr val="dk1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3-to-8 Decoder: </a:t>
            </a:r>
            <a:r>
              <a:rPr lang="en-US" sz="2300" dirty="0">
                <a:latin typeface="Montserrat" pitchFamily="2" charset="0"/>
              </a:rPr>
              <a:t>Takes a 3-bit input and drives one of 8 output lines high. Built by cascading two 2-to-4 decoders.</a:t>
            </a:r>
            <a:br>
              <a:rPr lang="en-GB" sz="2300" dirty="0">
                <a:solidFill>
                  <a:schemeClr val="dk1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</a:br>
            <a:endParaRPr sz="2300" dirty="0">
              <a:solidFill>
                <a:schemeClr val="dk1"/>
              </a:solidFill>
              <a:latin typeface="Montserrat" pitchFamily="2" charset="0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GB" sz="2300" dirty="0">
                <a:solidFill>
                  <a:schemeClr val="dk1"/>
                </a:solidFill>
                <a:latin typeface="Montserrat" pitchFamily="2" charset="0"/>
                <a:ea typeface="Montserrat"/>
                <a:cs typeface="Montserrat"/>
                <a:sym typeface="Montserrat"/>
              </a:rPr>
              <a:t>4. 4-bit Register:</a:t>
            </a:r>
            <a:endParaRPr sz="2300" dirty="0">
              <a:solidFill>
                <a:schemeClr val="dk1"/>
              </a:solidFill>
              <a:latin typeface="Montserrat" pitchFamily="2" charset="0"/>
              <a:ea typeface="Montserrat"/>
              <a:cs typeface="Montserrat"/>
              <a:sym typeface="Montserrat"/>
            </a:endParaRPr>
          </a:p>
          <a:p>
            <a:pPr marL="914400" marR="0" lvl="1" indent="-3746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US" sz="2300" dirty="0">
                <a:latin typeface="Montserrat" pitchFamily="2" charset="0"/>
              </a:rPr>
              <a:t>Contains 4 D flip-flops in parallel, each holding one bit. All 4 bits are loaded simultaneously from a 4-bit input bus</a:t>
            </a:r>
          </a:p>
          <a:p>
            <a:pPr marL="914400" marR="0" lvl="1" indent="-3746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Char char="○"/>
            </a:pPr>
            <a:r>
              <a:rPr lang="en-US" sz="2300" dirty="0">
                <a:latin typeface="Montserrat" pitchFamily="2" charset="0"/>
              </a:rPr>
              <a:t>Data is written and read only on the active clock edge </a:t>
            </a:r>
            <a:endParaRPr sz="2300" b="1" dirty="0">
              <a:solidFill>
                <a:schemeClr val="dk1"/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FPGA Pin Mappings (Original)</a:t>
            </a:r>
            <a:endParaRPr/>
          </a:p>
        </p:txBody>
      </p:sp>
      <p:pic>
        <p:nvPicPr>
          <p:cNvPr id="475" name="Google Shape;475;p17" title="WhatsApp Image 2025-05-25 at 23.41.00_6765ec6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4850" y="1536925"/>
            <a:ext cx="7504950" cy="51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5d37a3bd29_0_4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FPGA Pin Mappings (Extended)</a:t>
            </a:r>
            <a:endParaRPr/>
          </a:p>
        </p:txBody>
      </p:sp>
      <p:pic>
        <p:nvPicPr>
          <p:cNvPr id="481" name="Google Shape;481;g35d37a3bd29_0_403" title="WhatsApp Image 2025-05-25 at 23.47.34_2ad7265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288" y="1817351"/>
            <a:ext cx="7073126" cy="501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5faeff9449_3_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Resource Utilization (Original)</a:t>
            </a:r>
            <a:endParaRPr/>
          </a:p>
        </p:txBody>
      </p:sp>
      <p:pic>
        <p:nvPicPr>
          <p:cNvPr id="487" name="Google Shape;487;g35faeff9449_3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830" y="1624925"/>
            <a:ext cx="8289701" cy="48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5faeff9449_3_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Resource Utilization (Extended)</a:t>
            </a:r>
            <a:endParaRPr/>
          </a:p>
        </p:txBody>
      </p:sp>
      <p:pic>
        <p:nvPicPr>
          <p:cNvPr id="493" name="Google Shape;493;g35faeff9449_3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850" y="1807575"/>
            <a:ext cx="8232049" cy="50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5d37a3bd29_0_4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4500" b="1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sp>
        <p:nvSpPr>
          <p:cNvPr id="499" name="Google Shape;499;g35d37a3bd29_0_425"/>
          <p:cNvSpPr txBox="1"/>
          <p:nvPr/>
        </p:nvSpPr>
        <p:spPr>
          <a:xfrm>
            <a:off x="838200" y="2040600"/>
            <a:ext cx="10191300" cy="43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AutoNum type="arabicPeriod"/>
            </a:pPr>
            <a:r>
              <a:rPr lang="en-GB" sz="2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Achievements: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lang="en-GB" sz="2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4-bit Processor: Executes 8+ instructions (arithmetic, logic, control flow).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lang="en-GB" sz="2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Extended Functionality: Added AND/OR/XOR, multiplication, comparisons.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lang="en-GB" sz="2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FPGA Validation: Tested on BASYS3 with real-time 7-segment display output.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AutoNum type="arabicPeriod"/>
            </a:pPr>
            <a:r>
              <a:rPr lang="en-GB" sz="2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Learnings: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lang="en-GB" sz="2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Modular Design: Isolated components (ALU, ROM, Decoder) for scalability.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lang="en-GB" sz="2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Signed Arithmetic: Mastered two’s complement &amp; overflow detection.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marR="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lang="en-GB" sz="2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 Collaboration: Streamlined VHDL development &amp; testing.</a:t>
            </a:r>
            <a:endParaRPr sz="2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5cd49941e8_0_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GB" sz="6000" b="1">
                <a:latin typeface="Courier New"/>
                <a:ea typeface="Courier New"/>
                <a:cs typeface="Courier New"/>
                <a:sym typeface="Courier New"/>
              </a:rPr>
              <a:t>Thank You !</a:t>
            </a:r>
            <a:endParaRPr sz="7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326</TotalTime>
  <Words>2699</Words>
  <Application>Microsoft Office PowerPoint</Application>
  <PresentationFormat>Widescreen</PresentationFormat>
  <Paragraphs>336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Calibri</vt:lpstr>
      <vt:lpstr>Wingdings 3</vt:lpstr>
      <vt:lpstr>Montserrat</vt:lpstr>
      <vt:lpstr>Century Schoolbook</vt:lpstr>
      <vt:lpstr>Arial</vt:lpstr>
      <vt:lpstr>Consolas</vt:lpstr>
      <vt:lpstr>Courier New</vt:lpstr>
      <vt:lpstr>Century Gothic</vt:lpstr>
      <vt:lpstr>Trebuchet MS</vt:lpstr>
      <vt:lpstr>Roboto</vt:lpstr>
      <vt:lpstr>Facet</vt:lpstr>
      <vt:lpstr>Nano Processor Design and Implementation </vt:lpstr>
      <vt:lpstr>Project Objective </vt:lpstr>
      <vt:lpstr>Instruction Set Architecture </vt:lpstr>
      <vt:lpstr>Instruction Set Architecture </vt:lpstr>
      <vt:lpstr>Instruction Set Architecture </vt:lpstr>
      <vt:lpstr>Assembly Program and Machine Code</vt:lpstr>
      <vt:lpstr>Assembly Program and Machine Code</vt:lpstr>
      <vt:lpstr>System Overview</vt:lpstr>
      <vt:lpstr>Data Movement</vt:lpstr>
      <vt:lpstr>Original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Core Components</vt:lpstr>
      <vt:lpstr>Program ROM </vt:lpstr>
      <vt:lpstr>Program ROM </vt:lpstr>
      <vt:lpstr>Program Counter &amp; Address Control Logic </vt:lpstr>
      <vt:lpstr>Program Counter &amp; Address Control Logic </vt:lpstr>
      <vt:lpstr>Program Counter &amp; Address Control Logic </vt:lpstr>
      <vt:lpstr>Slow Clock </vt:lpstr>
      <vt:lpstr>Slow Clock </vt:lpstr>
      <vt:lpstr>Instruction Decoder (Original) </vt:lpstr>
      <vt:lpstr>Instruction Decoder (Original) </vt:lpstr>
      <vt:lpstr>PowerPoint Presentation</vt:lpstr>
      <vt:lpstr>PowerPoint Presentation</vt:lpstr>
      <vt:lpstr>PowerPoint Presentation</vt:lpstr>
      <vt:lpstr>PowerPoint Presentation</vt:lpstr>
      <vt:lpstr>Load Selector </vt:lpstr>
      <vt:lpstr>Load Selector </vt:lpstr>
      <vt:lpstr>Register Bank</vt:lpstr>
      <vt:lpstr>Register Bank</vt:lpstr>
      <vt:lpstr>Register Bank</vt:lpstr>
      <vt:lpstr>Register Data Multiplexer </vt:lpstr>
      <vt:lpstr>Register Data Multiplexer </vt:lpstr>
      <vt:lpstr>Register Data Multiplexer </vt:lpstr>
      <vt:lpstr>Register Data Multiplexer </vt:lpstr>
      <vt:lpstr>Seven Segment Display</vt:lpstr>
      <vt:lpstr>Seven Segment Display</vt:lpstr>
      <vt:lpstr>Arithmetic and Logic Unit</vt:lpstr>
      <vt:lpstr>Add_Sub Unit</vt:lpstr>
      <vt:lpstr>Multiplier Unit</vt:lpstr>
      <vt:lpstr>Multiplier Unit</vt:lpstr>
      <vt:lpstr>Multiplier Unit</vt:lpstr>
      <vt:lpstr>Multiplier Unit</vt:lpstr>
      <vt:lpstr>Comparator Unit</vt:lpstr>
      <vt:lpstr>Comparator Unit</vt:lpstr>
      <vt:lpstr>Bitwise Operator Unit</vt:lpstr>
      <vt:lpstr>Bitwise Operator Unit</vt:lpstr>
      <vt:lpstr>ALU</vt:lpstr>
      <vt:lpstr>ALU</vt:lpstr>
      <vt:lpstr>ALU</vt:lpstr>
      <vt:lpstr>Fundamental Building Blocks</vt:lpstr>
      <vt:lpstr>Fundamental Building Blocks</vt:lpstr>
      <vt:lpstr>FPGA Pin Mappings (Original)</vt:lpstr>
      <vt:lpstr>FPGA Pin Mappings (Extended)</vt:lpstr>
      <vt:lpstr>Resource Utilization (Original)</vt:lpstr>
      <vt:lpstr>Resource Utilization (Extended)</vt:lpstr>
      <vt:lpstr>Conclusion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Dinisuru Sangadith</dc:creator>
  <cp:lastModifiedBy>20/57 Dinisuru niluminda</cp:lastModifiedBy>
  <cp:revision>5</cp:revision>
  <dcterms:created xsi:type="dcterms:W3CDTF">2025-05-23T17:00:12Z</dcterms:created>
  <dcterms:modified xsi:type="dcterms:W3CDTF">2026-05-10T07:30:08Z</dcterms:modified>
</cp:coreProperties>
</file>